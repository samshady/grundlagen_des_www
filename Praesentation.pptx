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" name=""/>
          <p:cNvPicPr/>
          <p:nvPr/>
        </p:nvPicPr>
        <p:blipFill>
          <a:blip r:embed="rId1"/>
          <a:stretch/>
        </p:blipFill>
        <p:spPr>
          <a:xfrm>
            <a:off x="10858320" y="142920"/>
            <a:ext cx="952200" cy="51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"/>
          <p:cNvSpPr/>
          <p:nvPr/>
        </p:nvSpPr>
        <p:spPr>
          <a:xfrm>
            <a:off x="5714640" y="3571560"/>
            <a:ext cx="762480" cy="29160"/>
          </a:xfrm>
          <a:custGeom>
            <a:avLst/>
            <a:gdLst/>
            <a:ahLst/>
            <a:rect l="0" t="0" r="r" b="b"/>
            <a:pathLst>
              <a:path w="2118" h="81">
                <a:moveTo>
                  <a:pt x="0" y="0"/>
                </a:moveTo>
                <a:lnTo>
                  <a:pt x="2118" y="0"/>
                </a:lnTo>
                <a:lnTo>
                  <a:pt x="2118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9FBF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" name=""/>
          <p:cNvPicPr/>
          <p:nvPr/>
        </p:nvPicPr>
        <p:blipFill>
          <a:blip r:embed="rId2"/>
          <a:stretch/>
        </p:blipFill>
        <p:spPr>
          <a:xfrm>
            <a:off x="1962000" y="2143080"/>
            <a:ext cx="761760" cy="79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"/>
          <p:cNvSpPr txBox="1"/>
          <p:nvPr/>
        </p:nvSpPr>
        <p:spPr>
          <a:xfrm>
            <a:off x="2916000" y="2026800"/>
            <a:ext cx="7500600" cy="829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780" b="1" u="none" strike="noStrike">
                <a:solidFill>
                  <a:srgbClr val="9FBF47"/>
                </a:solidFill>
                <a:effectLst/>
                <a:uFillTx/>
                <a:latin typeface="NotoSans-Semi"/>
                <a:ea typeface="NotoSans-Semi"/>
              </a:rPr>
              <a:t>Smart Wardrobe Planner</a:t>
            </a:r>
            <a:endParaRPr lang="en-US" sz="47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747720" y="3097440"/>
            <a:ext cx="4912560" cy="30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40" b="1" u="none" strike="noStrike">
                <a:solidFill>
                  <a:srgbClr val="295A97"/>
                </a:solidFill>
                <a:effectLst/>
                <a:uFillTx/>
                <a:latin typeface="NotoSans-Semi"/>
                <a:ea typeface="NotoSans-Semi"/>
              </a:rPr>
              <a:t>Digitaler Kleiderschrank &amp; Outﬁt-Bewertung</a:t>
            </a:r>
            <a:endParaRPr lang="en-US" sz="1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747720" y="3755880"/>
            <a:ext cx="2899800" cy="26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2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Doaa Al-Shoumi &amp; Sameer Rana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747720" y="4181040"/>
            <a:ext cx="30542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928781"/>
                </a:solidFill>
                <a:effectLst/>
                <a:uFillTx/>
                <a:latin typeface="NotoSans"/>
                <a:ea typeface="NotoSans"/>
              </a:rPr>
              <a:t>Grundlagen des World Wide Web · SS 2026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747720" y="4409640"/>
            <a:ext cx="27471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928781"/>
                </a:solidFill>
                <a:effectLst/>
                <a:uFillTx/>
                <a:latin typeface="NotoSans"/>
                <a:ea typeface="NotoSans"/>
              </a:rPr>
              <a:t>Betreuer: PD Dr. Alexander Hinneburg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285840" y="197640"/>
            <a:ext cx="2560320" cy="17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NotoSans"/>
                <a:ea typeface="NotoSans"/>
              </a:rPr>
              <a:t>Martin-Luther-Universität Halle-Wittenberg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285840" y="6465240"/>
            <a:ext cx="2998440" cy="17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NotoSans"/>
                <a:ea typeface="NotoSans"/>
              </a:rPr>
              <a:t>Grundlagen des WWW | SS-26 | Al-Shoumi &amp; Rana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3" name=""/>
          <p:cNvPicPr/>
          <p:nvPr/>
        </p:nvPicPr>
        <p:blipFill>
          <a:blip r:embed="rId1"/>
          <a:stretch/>
        </p:blipFill>
        <p:spPr>
          <a:xfrm>
            <a:off x="10858320" y="142920"/>
            <a:ext cx="952200" cy="51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"/>
          <p:cNvSpPr/>
          <p:nvPr/>
        </p:nvSpPr>
        <p:spPr>
          <a:xfrm>
            <a:off x="771480" y="1609560"/>
            <a:ext cx="5258160" cy="2314800"/>
          </a:xfrm>
          <a:custGeom>
            <a:avLst/>
            <a:gdLst/>
            <a:ahLst/>
            <a:rect l="0" t="0" r="r" b="b"/>
            <a:pathLst>
              <a:path w="14606" h="6430">
                <a:moveTo>
                  <a:pt x="0" y="6272"/>
                </a:moveTo>
                <a:lnTo>
                  <a:pt x="0" y="159"/>
                </a:lnTo>
                <a:cubicBezTo>
                  <a:pt x="0" y="138"/>
                  <a:pt x="2" y="117"/>
                  <a:pt x="8" y="98"/>
                </a:cubicBezTo>
                <a:cubicBezTo>
                  <a:pt x="13" y="79"/>
                  <a:pt x="21" y="61"/>
                  <a:pt x="31" y="46"/>
                </a:cubicBezTo>
                <a:cubicBezTo>
                  <a:pt x="41" y="32"/>
                  <a:pt x="52" y="20"/>
                  <a:pt x="65" y="12"/>
                </a:cubicBezTo>
                <a:cubicBezTo>
                  <a:pt x="78" y="4"/>
                  <a:pt x="91" y="0"/>
                  <a:pt x="105" y="0"/>
                </a:cubicBezTo>
                <a:lnTo>
                  <a:pt x="14447" y="0"/>
                </a:lnTo>
                <a:cubicBezTo>
                  <a:pt x="14457" y="0"/>
                  <a:pt x="14468" y="1"/>
                  <a:pt x="14478" y="3"/>
                </a:cubicBezTo>
                <a:cubicBezTo>
                  <a:pt x="14488" y="5"/>
                  <a:pt x="14498" y="8"/>
                  <a:pt x="14508" y="12"/>
                </a:cubicBezTo>
                <a:cubicBezTo>
                  <a:pt x="14517" y="16"/>
                  <a:pt x="14526" y="21"/>
                  <a:pt x="14535" y="27"/>
                </a:cubicBezTo>
                <a:cubicBezTo>
                  <a:pt x="14544" y="33"/>
                  <a:pt x="14552" y="39"/>
                  <a:pt x="14559" y="46"/>
                </a:cubicBezTo>
                <a:cubicBezTo>
                  <a:pt x="14566" y="54"/>
                  <a:pt x="14573" y="62"/>
                  <a:pt x="14579" y="71"/>
                </a:cubicBezTo>
                <a:cubicBezTo>
                  <a:pt x="14585" y="79"/>
                  <a:pt x="14590" y="88"/>
                  <a:pt x="14594" y="98"/>
                </a:cubicBezTo>
                <a:cubicBezTo>
                  <a:pt x="14598" y="108"/>
                  <a:pt x="14601" y="118"/>
                  <a:pt x="14603" y="128"/>
                </a:cubicBezTo>
                <a:cubicBezTo>
                  <a:pt x="14605" y="138"/>
                  <a:pt x="14606" y="148"/>
                  <a:pt x="14606" y="159"/>
                </a:cubicBezTo>
                <a:lnTo>
                  <a:pt x="14606" y="6272"/>
                </a:lnTo>
                <a:cubicBezTo>
                  <a:pt x="14606" y="6282"/>
                  <a:pt x="14605" y="6292"/>
                  <a:pt x="14603" y="6303"/>
                </a:cubicBezTo>
                <a:cubicBezTo>
                  <a:pt x="14601" y="6313"/>
                  <a:pt x="14598" y="6323"/>
                  <a:pt x="14594" y="6332"/>
                </a:cubicBezTo>
                <a:cubicBezTo>
                  <a:pt x="14590" y="6342"/>
                  <a:pt x="14585" y="6351"/>
                  <a:pt x="14579" y="6360"/>
                </a:cubicBezTo>
                <a:cubicBezTo>
                  <a:pt x="14573" y="6368"/>
                  <a:pt x="14566" y="6376"/>
                  <a:pt x="14559" y="6384"/>
                </a:cubicBezTo>
                <a:cubicBezTo>
                  <a:pt x="14552" y="6391"/>
                  <a:pt x="14544" y="6398"/>
                  <a:pt x="14535" y="6404"/>
                </a:cubicBezTo>
                <a:cubicBezTo>
                  <a:pt x="14526" y="6409"/>
                  <a:pt x="14517" y="6414"/>
                  <a:pt x="14508" y="6418"/>
                </a:cubicBezTo>
                <a:cubicBezTo>
                  <a:pt x="14498" y="6422"/>
                  <a:pt x="14488" y="6425"/>
                  <a:pt x="14478" y="6427"/>
                </a:cubicBezTo>
                <a:cubicBezTo>
                  <a:pt x="14468" y="6429"/>
                  <a:pt x="14457" y="6430"/>
                  <a:pt x="14447" y="6430"/>
                </a:cubicBezTo>
                <a:lnTo>
                  <a:pt x="105" y="6430"/>
                </a:lnTo>
                <a:cubicBezTo>
                  <a:pt x="91" y="6430"/>
                  <a:pt x="78" y="6426"/>
                  <a:pt x="65" y="6418"/>
                </a:cubicBezTo>
                <a:cubicBezTo>
                  <a:pt x="52" y="6410"/>
                  <a:pt x="41" y="6399"/>
                  <a:pt x="31" y="6384"/>
                </a:cubicBezTo>
                <a:cubicBezTo>
                  <a:pt x="21" y="6369"/>
                  <a:pt x="13" y="6352"/>
                  <a:pt x="8" y="6332"/>
                </a:cubicBezTo>
                <a:cubicBezTo>
                  <a:pt x="2" y="6313"/>
                  <a:pt x="0" y="6293"/>
                  <a:pt x="0" y="6272"/>
                </a:cubicBezTo>
                <a:close/>
              </a:path>
            </a:pathLst>
          </a:custGeom>
          <a:solidFill>
            <a:srgbClr val="FFF0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752400" y="1609560"/>
            <a:ext cx="57240" cy="2314800"/>
          </a:xfrm>
          <a:custGeom>
            <a:avLst/>
            <a:gdLst/>
            <a:ahLst/>
            <a:rect l="0" t="0" r="r" b="b"/>
            <a:pathLst>
              <a:path w="159" h="6430">
                <a:moveTo>
                  <a:pt x="0" y="0"/>
                </a:moveTo>
                <a:lnTo>
                  <a:pt x="159" y="0"/>
                </a:lnTo>
                <a:lnTo>
                  <a:pt x="159" y="6430"/>
                </a:lnTo>
                <a:lnTo>
                  <a:pt x="0" y="6430"/>
                </a:lnTo>
                <a:lnTo>
                  <a:pt x="0" y="0"/>
                </a:lnTo>
                <a:close/>
              </a:path>
            </a:pathLst>
          </a:custGeom>
          <a:solidFill>
            <a:srgbClr val="CC44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3252600" y="1790640"/>
            <a:ext cx="314640" cy="271800"/>
          </a:xfrm>
          <a:custGeom>
            <a:avLst/>
            <a:gdLst/>
            <a:ahLst/>
            <a:rect l="0" t="0" r="r" b="b"/>
            <a:pathLst>
              <a:path w="874" h="755">
                <a:moveTo>
                  <a:pt x="438" y="0"/>
                </a:moveTo>
                <a:lnTo>
                  <a:pt x="0" y="755"/>
                </a:lnTo>
                <a:lnTo>
                  <a:pt x="874" y="755"/>
                </a:lnTo>
                <a:lnTo>
                  <a:pt x="438" y="0"/>
                </a:lnTo>
                <a:moveTo>
                  <a:pt x="438" y="158"/>
                </a:moveTo>
                <a:lnTo>
                  <a:pt x="736" y="674"/>
                </a:lnTo>
                <a:lnTo>
                  <a:pt x="139" y="674"/>
                </a:lnTo>
                <a:lnTo>
                  <a:pt x="438" y="158"/>
                </a:lnTo>
                <a:moveTo>
                  <a:pt x="398" y="317"/>
                </a:moveTo>
                <a:lnTo>
                  <a:pt x="398" y="476"/>
                </a:lnTo>
                <a:lnTo>
                  <a:pt x="477" y="476"/>
                </a:lnTo>
                <a:lnTo>
                  <a:pt x="477" y="317"/>
                </a:lnTo>
                <a:lnTo>
                  <a:pt x="398" y="317"/>
                </a:lnTo>
                <a:moveTo>
                  <a:pt x="398" y="555"/>
                </a:moveTo>
                <a:lnTo>
                  <a:pt x="398" y="635"/>
                </a:lnTo>
                <a:lnTo>
                  <a:pt x="477" y="635"/>
                </a:lnTo>
                <a:lnTo>
                  <a:pt x="477" y="555"/>
                </a:lnTo>
                <a:lnTo>
                  <a:pt x="398" y="555"/>
                </a:lnTo>
                <a:close/>
              </a:path>
            </a:pathLst>
          </a:custGeom>
          <a:solidFill>
            <a:srgbClr val="295A9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747720" y="854280"/>
            <a:ext cx="326772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1" u="none" strike="noStrike">
                <a:solidFill>
                  <a:srgbClr val="1F2328"/>
                </a:solidFill>
                <a:effectLst/>
                <a:uFillTx/>
                <a:latin typeface="NotoSans-Semi"/>
                <a:ea typeface="NotoSans-Semi"/>
              </a:rPr>
              <a:t>Problem &amp; Lösung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2975040" y="2150280"/>
            <a:ext cx="870120" cy="28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9" b="1" u="none" strike="noStrike">
                <a:solidFill>
                  <a:srgbClr val="295A97"/>
                </a:solidFill>
                <a:effectLst/>
                <a:uFillTx/>
                <a:latin typeface="NotoSans"/>
                <a:ea typeface="NotoSans"/>
              </a:rPr>
              <a:t>Problem</a:t>
            </a:r>
            <a:endParaRPr lang="en-US" sz="16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995400" y="2486880"/>
            <a:ext cx="38786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70" b="0" u="none" strike="noStrike">
                <a:solidFill>
                  <a:srgbClr val="295A97"/>
                </a:solidFill>
                <a:effectLst/>
                <a:uFillTx/>
                <a:latin typeface="NotoSansMath"/>
                <a:ea typeface="NotoSansMath"/>
              </a:rPr>
              <a:t>▸ </a:t>
            </a:r>
            <a:r>
              <a:rPr lang="en-US" sz="14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Jeden Morgen die Frage: Was ziehe ich an?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995400" y="2820240"/>
            <a:ext cx="33156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70" b="0" u="none" strike="noStrike">
                <a:solidFill>
                  <a:srgbClr val="295A97"/>
                </a:solidFill>
                <a:effectLst/>
                <a:uFillTx/>
                <a:latin typeface="NotoSansMath"/>
                <a:ea typeface="NotoSansMath"/>
              </a:rPr>
              <a:t>▸ </a:t>
            </a:r>
            <a:r>
              <a:rPr lang="en-US" sz="14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Unklar, was gut zusammen aussieht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995400" y="3162960"/>
            <a:ext cx="32763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70" b="0" u="none" strike="noStrike">
                <a:solidFill>
                  <a:srgbClr val="295A97"/>
                </a:solidFill>
                <a:effectLst/>
                <a:uFillTx/>
                <a:latin typeface="NotoSansMath"/>
                <a:ea typeface="NotoSansMath"/>
              </a:rPr>
              <a:t>▸ </a:t>
            </a:r>
            <a:r>
              <a:rPr lang="en-US" sz="14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Kein Überblick über Kombinationen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6181560" y="1609560"/>
            <a:ext cx="5267520" cy="2314800"/>
          </a:xfrm>
          <a:custGeom>
            <a:avLst/>
            <a:gdLst/>
            <a:ahLst/>
            <a:rect l="0" t="0" r="r" b="b"/>
            <a:pathLst>
              <a:path w="14632" h="6430">
                <a:moveTo>
                  <a:pt x="0" y="6272"/>
                </a:moveTo>
                <a:lnTo>
                  <a:pt x="0" y="159"/>
                </a:lnTo>
                <a:cubicBezTo>
                  <a:pt x="0" y="138"/>
                  <a:pt x="3" y="117"/>
                  <a:pt x="8" y="98"/>
                </a:cubicBezTo>
                <a:cubicBezTo>
                  <a:pt x="13" y="79"/>
                  <a:pt x="21" y="61"/>
                  <a:pt x="31" y="46"/>
                </a:cubicBezTo>
                <a:cubicBezTo>
                  <a:pt x="41" y="32"/>
                  <a:pt x="52" y="20"/>
                  <a:pt x="65" y="12"/>
                </a:cubicBezTo>
                <a:cubicBezTo>
                  <a:pt x="78" y="4"/>
                  <a:pt x="92" y="0"/>
                  <a:pt x="106" y="0"/>
                </a:cubicBezTo>
                <a:lnTo>
                  <a:pt x="14474" y="0"/>
                </a:lnTo>
                <a:cubicBezTo>
                  <a:pt x="14484" y="0"/>
                  <a:pt x="14494" y="1"/>
                  <a:pt x="14505" y="3"/>
                </a:cubicBezTo>
                <a:cubicBezTo>
                  <a:pt x="14515" y="5"/>
                  <a:pt x="14525" y="8"/>
                  <a:pt x="14534" y="12"/>
                </a:cubicBezTo>
                <a:cubicBezTo>
                  <a:pt x="14544" y="16"/>
                  <a:pt x="14553" y="21"/>
                  <a:pt x="14562" y="27"/>
                </a:cubicBezTo>
                <a:cubicBezTo>
                  <a:pt x="14571" y="33"/>
                  <a:pt x="14579" y="39"/>
                  <a:pt x="14586" y="46"/>
                </a:cubicBezTo>
                <a:cubicBezTo>
                  <a:pt x="14593" y="54"/>
                  <a:pt x="14600" y="62"/>
                  <a:pt x="14606" y="71"/>
                </a:cubicBezTo>
                <a:cubicBezTo>
                  <a:pt x="14611" y="79"/>
                  <a:pt x="14616" y="88"/>
                  <a:pt x="14620" y="98"/>
                </a:cubicBezTo>
                <a:cubicBezTo>
                  <a:pt x="14624" y="108"/>
                  <a:pt x="14627" y="118"/>
                  <a:pt x="14629" y="128"/>
                </a:cubicBezTo>
                <a:cubicBezTo>
                  <a:pt x="14631" y="138"/>
                  <a:pt x="14632" y="148"/>
                  <a:pt x="14632" y="159"/>
                </a:cubicBezTo>
                <a:lnTo>
                  <a:pt x="14632" y="6272"/>
                </a:lnTo>
                <a:cubicBezTo>
                  <a:pt x="14632" y="6282"/>
                  <a:pt x="14631" y="6292"/>
                  <a:pt x="14629" y="6303"/>
                </a:cubicBezTo>
                <a:cubicBezTo>
                  <a:pt x="14627" y="6313"/>
                  <a:pt x="14624" y="6323"/>
                  <a:pt x="14620" y="6332"/>
                </a:cubicBezTo>
                <a:cubicBezTo>
                  <a:pt x="14616" y="6342"/>
                  <a:pt x="14611" y="6351"/>
                  <a:pt x="14606" y="6360"/>
                </a:cubicBezTo>
                <a:cubicBezTo>
                  <a:pt x="14600" y="6368"/>
                  <a:pt x="14593" y="6376"/>
                  <a:pt x="14586" y="6384"/>
                </a:cubicBezTo>
                <a:cubicBezTo>
                  <a:pt x="14579" y="6391"/>
                  <a:pt x="14571" y="6398"/>
                  <a:pt x="14562" y="6404"/>
                </a:cubicBezTo>
                <a:cubicBezTo>
                  <a:pt x="14553" y="6409"/>
                  <a:pt x="14544" y="6414"/>
                  <a:pt x="14534" y="6418"/>
                </a:cubicBezTo>
                <a:cubicBezTo>
                  <a:pt x="14525" y="6422"/>
                  <a:pt x="14515" y="6425"/>
                  <a:pt x="14505" y="6427"/>
                </a:cubicBezTo>
                <a:cubicBezTo>
                  <a:pt x="14494" y="6429"/>
                  <a:pt x="14484" y="6430"/>
                  <a:pt x="14474" y="6430"/>
                </a:cubicBezTo>
                <a:lnTo>
                  <a:pt x="106" y="6430"/>
                </a:lnTo>
                <a:cubicBezTo>
                  <a:pt x="92" y="6430"/>
                  <a:pt x="78" y="6426"/>
                  <a:pt x="65" y="6418"/>
                </a:cubicBezTo>
                <a:cubicBezTo>
                  <a:pt x="52" y="6410"/>
                  <a:pt x="41" y="6399"/>
                  <a:pt x="31" y="6384"/>
                </a:cubicBezTo>
                <a:cubicBezTo>
                  <a:pt x="21" y="6369"/>
                  <a:pt x="13" y="6352"/>
                  <a:pt x="8" y="6332"/>
                </a:cubicBezTo>
                <a:cubicBezTo>
                  <a:pt x="3" y="6313"/>
                  <a:pt x="0" y="6293"/>
                  <a:pt x="0" y="6272"/>
                </a:cubicBezTo>
                <a:close/>
              </a:path>
            </a:pathLst>
          </a:custGeom>
          <a:solidFill>
            <a:srgbClr val="EFF5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6162480" y="1609560"/>
            <a:ext cx="57600" cy="2314800"/>
          </a:xfrm>
          <a:custGeom>
            <a:avLst/>
            <a:gdLst/>
            <a:ahLst/>
            <a:rect l="0" t="0" r="r" b="b"/>
            <a:pathLst>
              <a:path w="160" h="6430">
                <a:moveTo>
                  <a:pt x="0" y="0"/>
                </a:moveTo>
                <a:lnTo>
                  <a:pt x="160" y="0"/>
                </a:lnTo>
                <a:lnTo>
                  <a:pt x="160" y="6430"/>
                </a:lnTo>
                <a:lnTo>
                  <a:pt x="0" y="6430"/>
                </a:lnTo>
                <a:lnTo>
                  <a:pt x="0" y="0"/>
                </a:lnTo>
                <a:close/>
              </a:path>
            </a:pathLst>
          </a:custGeom>
          <a:solidFill>
            <a:srgbClr val="9FBF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8671680" y="1788840"/>
            <a:ext cx="292680" cy="275760"/>
          </a:xfrm>
          <a:custGeom>
            <a:avLst/>
            <a:gdLst/>
            <a:ahLst/>
            <a:rect l="0" t="0" r="r" b="b"/>
            <a:pathLst>
              <a:path w="813" h="766">
                <a:moveTo>
                  <a:pt x="783" y="439"/>
                </a:moveTo>
                <a:cubicBezTo>
                  <a:pt x="787" y="500"/>
                  <a:pt x="759" y="559"/>
                  <a:pt x="708" y="595"/>
                </a:cubicBezTo>
                <a:lnTo>
                  <a:pt x="739" y="655"/>
                </a:lnTo>
                <a:cubicBezTo>
                  <a:pt x="748" y="672"/>
                  <a:pt x="749" y="693"/>
                  <a:pt x="741" y="712"/>
                </a:cubicBezTo>
                <a:cubicBezTo>
                  <a:pt x="734" y="731"/>
                  <a:pt x="718" y="745"/>
                  <a:pt x="699" y="752"/>
                </a:cubicBezTo>
                <a:lnTo>
                  <a:pt x="668" y="763"/>
                </a:lnTo>
                <a:cubicBezTo>
                  <a:pt x="654" y="767"/>
                  <a:pt x="640" y="767"/>
                  <a:pt x="626" y="763"/>
                </a:cubicBezTo>
                <a:cubicBezTo>
                  <a:pt x="613" y="758"/>
                  <a:pt x="602" y="751"/>
                  <a:pt x="593" y="740"/>
                </a:cubicBezTo>
                <a:lnTo>
                  <a:pt x="509" y="641"/>
                </a:lnTo>
                <a:cubicBezTo>
                  <a:pt x="473" y="635"/>
                  <a:pt x="440" y="620"/>
                  <a:pt x="412" y="597"/>
                </a:cubicBezTo>
                <a:cubicBezTo>
                  <a:pt x="392" y="603"/>
                  <a:pt x="372" y="606"/>
                  <a:pt x="352" y="606"/>
                </a:cubicBezTo>
                <a:cubicBezTo>
                  <a:pt x="317" y="606"/>
                  <a:pt x="283" y="595"/>
                  <a:pt x="253" y="575"/>
                </a:cubicBezTo>
                <a:cubicBezTo>
                  <a:pt x="232" y="581"/>
                  <a:pt x="211" y="584"/>
                  <a:pt x="189" y="584"/>
                </a:cubicBezTo>
                <a:cubicBezTo>
                  <a:pt x="158" y="584"/>
                  <a:pt x="127" y="578"/>
                  <a:pt x="98" y="566"/>
                </a:cubicBezTo>
                <a:cubicBezTo>
                  <a:pt x="84" y="559"/>
                  <a:pt x="71" y="551"/>
                  <a:pt x="59" y="542"/>
                </a:cubicBezTo>
                <a:cubicBezTo>
                  <a:pt x="47" y="532"/>
                  <a:pt x="37" y="521"/>
                  <a:pt x="29" y="508"/>
                </a:cubicBezTo>
                <a:cubicBezTo>
                  <a:pt x="20" y="495"/>
                  <a:pt x="14" y="482"/>
                  <a:pt x="9" y="467"/>
                </a:cubicBezTo>
                <a:cubicBezTo>
                  <a:pt x="4" y="453"/>
                  <a:pt x="2" y="438"/>
                  <a:pt x="1" y="422"/>
                </a:cubicBezTo>
                <a:cubicBezTo>
                  <a:pt x="-2" y="394"/>
                  <a:pt x="3" y="365"/>
                  <a:pt x="15" y="339"/>
                </a:cubicBezTo>
                <a:cubicBezTo>
                  <a:pt x="4" y="309"/>
                  <a:pt x="2" y="276"/>
                  <a:pt x="12" y="246"/>
                </a:cubicBezTo>
                <a:cubicBezTo>
                  <a:pt x="27" y="208"/>
                  <a:pt x="55" y="177"/>
                  <a:pt x="89" y="157"/>
                </a:cubicBezTo>
                <a:cubicBezTo>
                  <a:pt x="112" y="90"/>
                  <a:pt x="177" y="45"/>
                  <a:pt x="248" y="50"/>
                </a:cubicBezTo>
                <a:cubicBezTo>
                  <a:pt x="312" y="-10"/>
                  <a:pt x="409" y="-17"/>
                  <a:pt x="479" y="35"/>
                </a:cubicBezTo>
                <a:cubicBezTo>
                  <a:pt x="496" y="31"/>
                  <a:pt x="514" y="29"/>
                  <a:pt x="531" y="29"/>
                </a:cubicBezTo>
                <a:cubicBezTo>
                  <a:pt x="585" y="27"/>
                  <a:pt x="636" y="51"/>
                  <a:pt x="671" y="94"/>
                </a:cubicBezTo>
                <a:cubicBezTo>
                  <a:pt x="752" y="115"/>
                  <a:pt x="810" y="187"/>
                  <a:pt x="813" y="271"/>
                </a:cubicBezTo>
                <a:cubicBezTo>
                  <a:pt x="815" y="315"/>
                  <a:pt x="803" y="358"/>
                  <a:pt x="779" y="395"/>
                </a:cubicBezTo>
                <a:cubicBezTo>
                  <a:pt x="782" y="410"/>
                  <a:pt x="783" y="424"/>
                  <a:pt x="783" y="439"/>
                </a:cubicBezTo>
                <a:moveTo>
                  <a:pt x="584" y="383"/>
                </a:moveTo>
                <a:cubicBezTo>
                  <a:pt x="606" y="385"/>
                  <a:pt x="624" y="403"/>
                  <a:pt x="624" y="425"/>
                </a:cubicBezTo>
                <a:cubicBezTo>
                  <a:pt x="624" y="430"/>
                  <a:pt x="623" y="435"/>
                  <a:pt x="621" y="440"/>
                </a:cubicBezTo>
                <a:cubicBezTo>
                  <a:pt x="619" y="445"/>
                  <a:pt x="616" y="450"/>
                  <a:pt x="613" y="453"/>
                </a:cubicBezTo>
                <a:cubicBezTo>
                  <a:pt x="609" y="457"/>
                  <a:pt x="605" y="460"/>
                  <a:pt x="600" y="462"/>
                </a:cubicBezTo>
                <a:cubicBezTo>
                  <a:pt x="595" y="464"/>
                  <a:pt x="590" y="465"/>
                  <a:pt x="585" y="465"/>
                </a:cubicBezTo>
                <a:lnTo>
                  <a:pt x="560" y="465"/>
                </a:lnTo>
                <a:cubicBezTo>
                  <a:pt x="547" y="501"/>
                  <a:pt x="525" y="532"/>
                  <a:pt x="495" y="556"/>
                </a:cubicBezTo>
                <a:cubicBezTo>
                  <a:pt x="505" y="559"/>
                  <a:pt x="516" y="561"/>
                  <a:pt x="526" y="564"/>
                </a:cubicBezTo>
                <a:cubicBezTo>
                  <a:pt x="730" y="561"/>
                  <a:pt x="707" y="437"/>
                  <a:pt x="707" y="435"/>
                </a:cubicBezTo>
                <a:cubicBezTo>
                  <a:pt x="706" y="421"/>
                  <a:pt x="703" y="408"/>
                  <a:pt x="697" y="396"/>
                </a:cubicBezTo>
                <a:cubicBezTo>
                  <a:pt x="692" y="384"/>
                  <a:pt x="684" y="373"/>
                  <a:pt x="674" y="364"/>
                </a:cubicBezTo>
                <a:cubicBezTo>
                  <a:pt x="664" y="354"/>
                  <a:pt x="652" y="347"/>
                  <a:pt x="638" y="343"/>
                </a:cubicBezTo>
                <a:cubicBezTo>
                  <a:pt x="626" y="338"/>
                  <a:pt x="612" y="336"/>
                  <a:pt x="599" y="336"/>
                </a:cubicBezTo>
                <a:cubicBezTo>
                  <a:pt x="594" y="336"/>
                  <a:pt x="589" y="335"/>
                  <a:pt x="584" y="333"/>
                </a:cubicBezTo>
                <a:cubicBezTo>
                  <a:pt x="579" y="331"/>
                  <a:pt x="575" y="328"/>
                  <a:pt x="571" y="325"/>
                </a:cubicBezTo>
                <a:cubicBezTo>
                  <a:pt x="567" y="321"/>
                  <a:pt x="564" y="317"/>
                  <a:pt x="562" y="312"/>
                </a:cubicBezTo>
                <a:cubicBezTo>
                  <a:pt x="560" y="307"/>
                  <a:pt x="559" y="302"/>
                  <a:pt x="559" y="297"/>
                </a:cubicBezTo>
                <a:cubicBezTo>
                  <a:pt x="559" y="291"/>
                  <a:pt x="560" y="286"/>
                  <a:pt x="562" y="281"/>
                </a:cubicBezTo>
                <a:cubicBezTo>
                  <a:pt x="564" y="277"/>
                  <a:pt x="567" y="272"/>
                  <a:pt x="571" y="269"/>
                </a:cubicBezTo>
                <a:cubicBezTo>
                  <a:pt x="575" y="265"/>
                  <a:pt x="579" y="262"/>
                  <a:pt x="584" y="260"/>
                </a:cubicBezTo>
                <a:cubicBezTo>
                  <a:pt x="589" y="258"/>
                  <a:pt x="594" y="257"/>
                  <a:pt x="599" y="257"/>
                </a:cubicBezTo>
                <a:cubicBezTo>
                  <a:pt x="649" y="258"/>
                  <a:pt x="695" y="276"/>
                  <a:pt x="732" y="308"/>
                </a:cubicBezTo>
                <a:cubicBezTo>
                  <a:pt x="734" y="297"/>
                  <a:pt x="735" y="285"/>
                  <a:pt x="735" y="273"/>
                </a:cubicBezTo>
                <a:cubicBezTo>
                  <a:pt x="733" y="224"/>
                  <a:pt x="711" y="181"/>
                  <a:pt x="620" y="173"/>
                </a:cubicBezTo>
                <a:cubicBezTo>
                  <a:pt x="571" y="55"/>
                  <a:pt x="446" y="120"/>
                  <a:pt x="446" y="157"/>
                </a:cubicBezTo>
                <a:cubicBezTo>
                  <a:pt x="444" y="166"/>
                  <a:pt x="454" y="185"/>
                  <a:pt x="456" y="187"/>
                </a:cubicBezTo>
                <a:cubicBezTo>
                  <a:pt x="461" y="187"/>
                  <a:pt x="466" y="188"/>
                  <a:pt x="471" y="190"/>
                </a:cubicBezTo>
                <a:cubicBezTo>
                  <a:pt x="476" y="192"/>
                  <a:pt x="480" y="195"/>
                  <a:pt x="484" y="198"/>
                </a:cubicBezTo>
                <a:cubicBezTo>
                  <a:pt x="487" y="202"/>
                  <a:pt x="490" y="206"/>
                  <a:pt x="492" y="211"/>
                </a:cubicBezTo>
                <a:cubicBezTo>
                  <a:pt x="494" y="216"/>
                  <a:pt x="495" y="221"/>
                  <a:pt x="495" y="226"/>
                </a:cubicBezTo>
                <a:cubicBezTo>
                  <a:pt x="495" y="248"/>
                  <a:pt x="477" y="266"/>
                  <a:pt x="456" y="266"/>
                </a:cubicBezTo>
                <a:cubicBezTo>
                  <a:pt x="435" y="265"/>
                  <a:pt x="415" y="257"/>
                  <a:pt x="399" y="244"/>
                </a:cubicBezTo>
                <a:cubicBezTo>
                  <a:pt x="380" y="256"/>
                  <a:pt x="358" y="264"/>
                  <a:pt x="335" y="266"/>
                </a:cubicBezTo>
                <a:cubicBezTo>
                  <a:pt x="313" y="268"/>
                  <a:pt x="294" y="252"/>
                  <a:pt x="293" y="230"/>
                </a:cubicBezTo>
                <a:cubicBezTo>
                  <a:pt x="292" y="225"/>
                  <a:pt x="292" y="220"/>
                  <a:pt x="294" y="215"/>
                </a:cubicBezTo>
                <a:cubicBezTo>
                  <a:pt x="295" y="210"/>
                  <a:pt x="298" y="205"/>
                  <a:pt x="301" y="201"/>
                </a:cubicBezTo>
                <a:cubicBezTo>
                  <a:pt x="304" y="197"/>
                  <a:pt x="308" y="194"/>
                  <a:pt x="313" y="191"/>
                </a:cubicBezTo>
                <a:cubicBezTo>
                  <a:pt x="318" y="189"/>
                  <a:pt x="323" y="187"/>
                  <a:pt x="328" y="187"/>
                </a:cubicBezTo>
                <a:cubicBezTo>
                  <a:pt x="334" y="186"/>
                  <a:pt x="365" y="181"/>
                  <a:pt x="365" y="156"/>
                </a:cubicBezTo>
                <a:cubicBezTo>
                  <a:pt x="365" y="130"/>
                  <a:pt x="375" y="105"/>
                  <a:pt x="392" y="85"/>
                </a:cubicBezTo>
                <a:cubicBezTo>
                  <a:pt x="356" y="75"/>
                  <a:pt x="316" y="88"/>
                  <a:pt x="277" y="136"/>
                </a:cubicBezTo>
                <a:cubicBezTo>
                  <a:pt x="204" y="125"/>
                  <a:pt x="174" y="135"/>
                  <a:pt x="152" y="212"/>
                </a:cubicBezTo>
                <a:cubicBezTo>
                  <a:pt x="114" y="231"/>
                  <a:pt x="94" y="244"/>
                  <a:pt x="86" y="283"/>
                </a:cubicBezTo>
                <a:cubicBezTo>
                  <a:pt x="129" y="275"/>
                  <a:pt x="173" y="278"/>
                  <a:pt x="213" y="293"/>
                </a:cubicBezTo>
                <a:cubicBezTo>
                  <a:pt x="233" y="301"/>
                  <a:pt x="244" y="323"/>
                  <a:pt x="237" y="345"/>
                </a:cubicBezTo>
                <a:cubicBezTo>
                  <a:pt x="229" y="365"/>
                  <a:pt x="206" y="376"/>
                  <a:pt x="186" y="368"/>
                </a:cubicBezTo>
                <a:cubicBezTo>
                  <a:pt x="157" y="355"/>
                  <a:pt x="124" y="355"/>
                  <a:pt x="94" y="366"/>
                </a:cubicBezTo>
                <a:cubicBezTo>
                  <a:pt x="82" y="376"/>
                  <a:pt x="82" y="399"/>
                  <a:pt x="82" y="416"/>
                </a:cubicBezTo>
                <a:cubicBezTo>
                  <a:pt x="82" y="445"/>
                  <a:pt x="96" y="473"/>
                  <a:pt x="121" y="489"/>
                </a:cubicBezTo>
                <a:cubicBezTo>
                  <a:pt x="142" y="499"/>
                  <a:pt x="166" y="505"/>
                  <a:pt x="189" y="505"/>
                </a:cubicBezTo>
                <a:cubicBezTo>
                  <a:pt x="183" y="494"/>
                  <a:pt x="178" y="484"/>
                  <a:pt x="174" y="472"/>
                </a:cubicBezTo>
                <a:cubicBezTo>
                  <a:pt x="172" y="467"/>
                  <a:pt x="172" y="462"/>
                  <a:pt x="172" y="457"/>
                </a:cubicBezTo>
                <a:cubicBezTo>
                  <a:pt x="173" y="451"/>
                  <a:pt x="174" y="446"/>
                  <a:pt x="176" y="442"/>
                </a:cubicBezTo>
                <a:cubicBezTo>
                  <a:pt x="179" y="437"/>
                  <a:pt x="182" y="433"/>
                  <a:pt x="186" y="429"/>
                </a:cubicBezTo>
                <a:cubicBezTo>
                  <a:pt x="190" y="426"/>
                  <a:pt x="195" y="423"/>
                  <a:pt x="200" y="421"/>
                </a:cubicBezTo>
                <a:cubicBezTo>
                  <a:pt x="205" y="420"/>
                  <a:pt x="210" y="419"/>
                  <a:pt x="215" y="419"/>
                </a:cubicBezTo>
                <a:cubicBezTo>
                  <a:pt x="221" y="419"/>
                  <a:pt x="226" y="421"/>
                  <a:pt x="230" y="423"/>
                </a:cubicBezTo>
                <a:cubicBezTo>
                  <a:pt x="235" y="425"/>
                  <a:pt x="240" y="428"/>
                  <a:pt x="243" y="432"/>
                </a:cubicBezTo>
                <a:cubicBezTo>
                  <a:pt x="247" y="436"/>
                  <a:pt x="250" y="440"/>
                  <a:pt x="252" y="445"/>
                </a:cubicBezTo>
                <a:cubicBezTo>
                  <a:pt x="267" y="491"/>
                  <a:pt x="308" y="522"/>
                  <a:pt x="356" y="527"/>
                </a:cubicBezTo>
                <a:cubicBezTo>
                  <a:pt x="410" y="524"/>
                  <a:pt x="458" y="492"/>
                  <a:pt x="482" y="442"/>
                </a:cubicBezTo>
                <a:cubicBezTo>
                  <a:pt x="491" y="387"/>
                  <a:pt x="535" y="383"/>
                  <a:pt x="584" y="383"/>
                </a:cubicBezTo>
                <a:moveTo>
                  <a:pt x="664" y="679"/>
                </a:moveTo>
                <a:lnTo>
                  <a:pt x="639" y="628"/>
                </a:lnTo>
                <a:lnTo>
                  <a:pt x="610" y="634"/>
                </a:lnTo>
                <a:lnTo>
                  <a:pt x="651" y="684"/>
                </a:lnTo>
                <a:lnTo>
                  <a:pt x="664" y="679"/>
                </a:lnTo>
                <a:moveTo>
                  <a:pt x="479" y="337"/>
                </a:moveTo>
                <a:cubicBezTo>
                  <a:pt x="479" y="327"/>
                  <a:pt x="476" y="318"/>
                  <a:pt x="469" y="310"/>
                </a:cubicBezTo>
                <a:cubicBezTo>
                  <a:pt x="462" y="302"/>
                  <a:pt x="453" y="298"/>
                  <a:pt x="442" y="297"/>
                </a:cubicBezTo>
                <a:cubicBezTo>
                  <a:pt x="414" y="295"/>
                  <a:pt x="387" y="305"/>
                  <a:pt x="366" y="323"/>
                </a:cubicBezTo>
                <a:cubicBezTo>
                  <a:pt x="343" y="346"/>
                  <a:pt x="331" y="378"/>
                  <a:pt x="333" y="410"/>
                </a:cubicBezTo>
                <a:cubicBezTo>
                  <a:pt x="333" y="415"/>
                  <a:pt x="334" y="420"/>
                  <a:pt x="336" y="425"/>
                </a:cubicBezTo>
                <a:cubicBezTo>
                  <a:pt x="338" y="430"/>
                  <a:pt x="340" y="434"/>
                  <a:pt x="344" y="438"/>
                </a:cubicBezTo>
                <a:cubicBezTo>
                  <a:pt x="348" y="442"/>
                  <a:pt x="352" y="445"/>
                  <a:pt x="357" y="447"/>
                </a:cubicBezTo>
                <a:cubicBezTo>
                  <a:pt x="362" y="449"/>
                  <a:pt x="367" y="450"/>
                  <a:pt x="372" y="450"/>
                </a:cubicBezTo>
                <a:cubicBezTo>
                  <a:pt x="395" y="450"/>
                  <a:pt x="412" y="432"/>
                  <a:pt x="412" y="410"/>
                </a:cubicBezTo>
                <a:cubicBezTo>
                  <a:pt x="412" y="399"/>
                  <a:pt x="415" y="389"/>
                  <a:pt x="421" y="380"/>
                </a:cubicBezTo>
                <a:cubicBezTo>
                  <a:pt x="426" y="376"/>
                  <a:pt x="432" y="374"/>
                  <a:pt x="438" y="374"/>
                </a:cubicBezTo>
                <a:cubicBezTo>
                  <a:pt x="460" y="375"/>
                  <a:pt x="479" y="359"/>
                  <a:pt x="479" y="337"/>
                </a:cubicBezTo>
                <a:close/>
              </a:path>
            </a:pathLst>
          </a:custGeom>
          <a:solidFill>
            <a:srgbClr val="295A9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995400" y="3496320"/>
            <a:ext cx="41724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70" b="0" u="none" strike="noStrike">
                <a:solidFill>
                  <a:srgbClr val="295A97"/>
                </a:solidFill>
                <a:effectLst/>
                <a:uFillTx/>
                <a:latin typeface="NotoSansMath"/>
                <a:ea typeface="NotoSansMath"/>
              </a:rPr>
              <a:t>▸ </a:t>
            </a:r>
            <a:r>
              <a:rPr lang="en-US" sz="14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Zeitaufwändiges manuelles Zusammenstellen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8593200" y="2150280"/>
            <a:ext cx="459720" cy="28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9" b="1" u="none" strike="noStrike">
                <a:solidFill>
                  <a:srgbClr val="295A97"/>
                </a:solidFill>
                <a:effectLst/>
                <a:uFillTx/>
                <a:latin typeface="NotoSans"/>
                <a:ea typeface="NotoSans"/>
              </a:rPr>
              <a:t>Idee</a:t>
            </a:r>
            <a:endParaRPr lang="en-US" sz="16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6452640" y="2483640"/>
            <a:ext cx="4750920" cy="28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9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Ein digitaler Kleiderschrank, der Outﬁts bewertet</a:t>
            </a:r>
            <a:endParaRPr lang="en-US" sz="16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7207560" y="2797920"/>
            <a:ext cx="3232080" cy="28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9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und die Entscheidung erleichtert.</a:t>
            </a:r>
            <a:endParaRPr lang="en-US" sz="16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5971680" y="3988800"/>
            <a:ext cx="496800" cy="55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9" b="0" u="none" strike="noStrike">
                <a:solidFill>
                  <a:srgbClr val="295A97"/>
                </a:solidFill>
                <a:effectLst/>
                <a:uFillTx/>
                <a:latin typeface="Arial"/>
                <a:ea typeface="Arial"/>
              </a:rPr>
              <a:t>↓</a:t>
            </a:r>
            <a:endParaRPr lang="en-US" sz="390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757080" y="4890960"/>
            <a:ext cx="2562480" cy="1086120"/>
          </a:xfrm>
          <a:custGeom>
            <a:avLst/>
            <a:gdLst/>
            <a:ahLst/>
            <a:rect l="0" t="0" r="r" b="b"/>
            <a:pathLst>
              <a:path w="7118" h="3017">
                <a:moveTo>
                  <a:pt x="0" y="2818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6920" y="0"/>
                </a:lnTo>
                <a:cubicBezTo>
                  <a:pt x="6933" y="0"/>
                  <a:pt x="6946" y="1"/>
                  <a:pt x="6959" y="4"/>
                </a:cubicBezTo>
                <a:cubicBezTo>
                  <a:pt x="6971" y="6"/>
                  <a:pt x="6984" y="10"/>
                  <a:pt x="6996" y="15"/>
                </a:cubicBezTo>
                <a:cubicBezTo>
                  <a:pt x="7008" y="20"/>
                  <a:pt x="7019" y="26"/>
                  <a:pt x="7030" y="33"/>
                </a:cubicBezTo>
                <a:cubicBezTo>
                  <a:pt x="7041" y="41"/>
                  <a:pt x="7051" y="49"/>
                  <a:pt x="7060" y="58"/>
                </a:cubicBezTo>
                <a:cubicBezTo>
                  <a:pt x="7069" y="67"/>
                  <a:pt x="7078" y="77"/>
                  <a:pt x="7085" y="88"/>
                </a:cubicBezTo>
                <a:cubicBezTo>
                  <a:pt x="7092" y="99"/>
                  <a:pt x="7098" y="110"/>
                  <a:pt x="7103" y="122"/>
                </a:cubicBezTo>
                <a:cubicBezTo>
                  <a:pt x="7108" y="134"/>
                  <a:pt x="7112" y="147"/>
                  <a:pt x="7114" y="160"/>
                </a:cubicBezTo>
                <a:cubicBezTo>
                  <a:pt x="7117" y="172"/>
                  <a:pt x="7118" y="185"/>
                  <a:pt x="7118" y="198"/>
                </a:cubicBezTo>
                <a:lnTo>
                  <a:pt x="7118" y="2818"/>
                </a:lnTo>
                <a:cubicBezTo>
                  <a:pt x="7118" y="2831"/>
                  <a:pt x="7117" y="2844"/>
                  <a:pt x="7114" y="2856"/>
                </a:cubicBezTo>
                <a:cubicBezTo>
                  <a:pt x="7112" y="2869"/>
                  <a:pt x="7108" y="2882"/>
                  <a:pt x="7103" y="2894"/>
                </a:cubicBezTo>
                <a:cubicBezTo>
                  <a:pt x="7098" y="2906"/>
                  <a:pt x="7092" y="2917"/>
                  <a:pt x="7085" y="2928"/>
                </a:cubicBezTo>
                <a:cubicBezTo>
                  <a:pt x="7078" y="2939"/>
                  <a:pt x="7069" y="2949"/>
                  <a:pt x="7060" y="2958"/>
                </a:cubicBezTo>
                <a:cubicBezTo>
                  <a:pt x="7051" y="2967"/>
                  <a:pt x="7041" y="2975"/>
                  <a:pt x="7030" y="2983"/>
                </a:cubicBezTo>
                <a:cubicBezTo>
                  <a:pt x="7019" y="2990"/>
                  <a:pt x="7008" y="2996"/>
                  <a:pt x="6996" y="3001"/>
                </a:cubicBezTo>
                <a:cubicBezTo>
                  <a:pt x="6984" y="3007"/>
                  <a:pt x="6971" y="3011"/>
                  <a:pt x="6959" y="3013"/>
                </a:cubicBezTo>
                <a:cubicBezTo>
                  <a:pt x="6946" y="3016"/>
                  <a:pt x="6933" y="3017"/>
                  <a:pt x="6920" y="3017"/>
                </a:cubicBezTo>
                <a:lnTo>
                  <a:pt x="198" y="3017"/>
                </a:lnTo>
                <a:cubicBezTo>
                  <a:pt x="185" y="3017"/>
                  <a:pt x="172" y="3016"/>
                  <a:pt x="160" y="3013"/>
                </a:cubicBezTo>
                <a:cubicBezTo>
                  <a:pt x="147" y="3011"/>
                  <a:pt x="134" y="3007"/>
                  <a:pt x="122" y="3001"/>
                </a:cubicBezTo>
                <a:cubicBezTo>
                  <a:pt x="110" y="2996"/>
                  <a:pt x="99" y="2990"/>
                  <a:pt x="88" y="2983"/>
                </a:cubicBezTo>
                <a:cubicBezTo>
                  <a:pt x="77" y="2975"/>
                  <a:pt x="67" y="2967"/>
                  <a:pt x="58" y="2958"/>
                </a:cubicBezTo>
                <a:cubicBezTo>
                  <a:pt x="49" y="2949"/>
                  <a:pt x="41" y="2939"/>
                  <a:pt x="33" y="2928"/>
                </a:cubicBezTo>
                <a:cubicBezTo>
                  <a:pt x="26" y="2917"/>
                  <a:pt x="20" y="2906"/>
                  <a:pt x="15" y="2894"/>
                </a:cubicBezTo>
                <a:cubicBezTo>
                  <a:pt x="10" y="2882"/>
                  <a:pt x="6" y="2869"/>
                  <a:pt x="4" y="2856"/>
                </a:cubicBezTo>
                <a:cubicBezTo>
                  <a:pt x="1" y="2844"/>
                  <a:pt x="0" y="2831"/>
                  <a:pt x="0" y="2818"/>
                </a:cubicBezTo>
                <a:close/>
              </a:path>
            </a:pathLst>
          </a:custGeom>
          <a:solidFill>
            <a:srgbClr val="F5F5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757080" y="4890960"/>
            <a:ext cx="2562480" cy="1086120"/>
          </a:xfrm>
          <a:custGeom>
            <a:avLst/>
            <a:gdLst/>
            <a:ahLst/>
            <a:rect l="0" t="0" r="r" b="b"/>
            <a:pathLst>
              <a:path w="7118" h="3017">
                <a:moveTo>
                  <a:pt x="0" y="2818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6920" y="0"/>
                </a:lnTo>
                <a:cubicBezTo>
                  <a:pt x="6933" y="0"/>
                  <a:pt x="6946" y="1"/>
                  <a:pt x="6959" y="4"/>
                </a:cubicBezTo>
                <a:cubicBezTo>
                  <a:pt x="6971" y="6"/>
                  <a:pt x="6984" y="10"/>
                  <a:pt x="6996" y="15"/>
                </a:cubicBezTo>
                <a:cubicBezTo>
                  <a:pt x="7008" y="20"/>
                  <a:pt x="7019" y="26"/>
                  <a:pt x="7030" y="33"/>
                </a:cubicBezTo>
                <a:cubicBezTo>
                  <a:pt x="7041" y="41"/>
                  <a:pt x="7051" y="49"/>
                  <a:pt x="7060" y="58"/>
                </a:cubicBezTo>
                <a:cubicBezTo>
                  <a:pt x="7069" y="67"/>
                  <a:pt x="7078" y="77"/>
                  <a:pt x="7085" y="88"/>
                </a:cubicBezTo>
                <a:cubicBezTo>
                  <a:pt x="7092" y="99"/>
                  <a:pt x="7098" y="110"/>
                  <a:pt x="7103" y="122"/>
                </a:cubicBezTo>
                <a:cubicBezTo>
                  <a:pt x="7108" y="134"/>
                  <a:pt x="7112" y="147"/>
                  <a:pt x="7114" y="160"/>
                </a:cubicBezTo>
                <a:cubicBezTo>
                  <a:pt x="7117" y="172"/>
                  <a:pt x="7118" y="185"/>
                  <a:pt x="7118" y="198"/>
                </a:cubicBezTo>
                <a:lnTo>
                  <a:pt x="7118" y="2818"/>
                </a:lnTo>
                <a:cubicBezTo>
                  <a:pt x="7118" y="2831"/>
                  <a:pt x="7117" y="2844"/>
                  <a:pt x="7114" y="2856"/>
                </a:cubicBezTo>
                <a:cubicBezTo>
                  <a:pt x="7112" y="2869"/>
                  <a:pt x="7108" y="2882"/>
                  <a:pt x="7103" y="2894"/>
                </a:cubicBezTo>
                <a:cubicBezTo>
                  <a:pt x="7098" y="2906"/>
                  <a:pt x="7092" y="2917"/>
                  <a:pt x="7085" y="2928"/>
                </a:cubicBezTo>
                <a:cubicBezTo>
                  <a:pt x="7078" y="2939"/>
                  <a:pt x="7069" y="2949"/>
                  <a:pt x="7060" y="2958"/>
                </a:cubicBezTo>
                <a:cubicBezTo>
                  <a:pt x="7051" y="2967"/>
                  <a:pt x="7041" y="2975"/>
                  <a:pt x="7030" y="2983"/>
                </a:cubicBezTo>
                <a:cubicBezTo>
                  <a:pt x="7019" y="2990"/>
                  <a:pt x="7008" y="2996"/>
                  <a:pt x="6996" y="3001"/>
                </a:cubicBezTo>
                <a:cubicBezTo>
                  <a:pt x="6984" y="3007"/>
                  <a:pt x="6971" y="3011"/>
                  <a:pt x="6959" y="3013"/>
                </a:cubicBezTo>
                <a:cubicBezTo>
                  <a:pt x="6946" y="3016"/>
                  <a:pt x="6933" y="3017"/>
                  <a:pt x="6920" y="3017"/>
                </a:cubicBezTo>
                <a:lnTo>
                  <a:pt x="198" y="3017"/>
                </a:lnTo>
                <a:cubicBezTo>
                  <a:pt x="185" y="3017"/>
                  <a:pt x="172" y="3016"/>
                  <a:pt x="160" y="3013"/>
                </a:cubicBezTo>
                <a:cubicBezTo>
                  <a:pt x="147" y="3011"/>
                  <a:pt x="134" y="3007"/>
                  <a:pt x="122" y="3001"/>
                </a:cubicBezTo>
                <a:cubicBezTo>
                  <a:pt x="110" y="2996"/>
                  <a:pt x="99" y="2990"/>
                  <a:pt x="88" y="2983"/>
                </a:cubicBezTo>
                <a:cubicBezTo>
                  <a:pt x="77" y="2975"/>
                  <a:pt x="67" y="2967"/>
                  <a:pt x="58" y="2958"/>
                </a:cubicBezTo>
                <a:cubicBezTo>
                  <a:pt x="49" y="2949"/>
                  <a:pt x="41" y="2939"/>
                  <a:pt x="33" y="2928"/>
                </a:cubicBezTo>
                <a:cubicBezTo>
                  <a:pt x="26" y="2917"/>
                  <a:pt x="20" y="2906"/>
                  <a:pt x="15" y="2894"/>
                </a:cubicBezTo>
                <a:cubicBezTo>
                  <a:pt x="10" y="2882"/>
                  <a:pt x="6" y="2869"/>
                  <a:pt x="4" y="2856"/>
                </a:cubicBezTo>
                <a:cubicBezTo>
                  <a:pt x="1" y="2844"/>
                  <a:pt x="0" y="2831"/>
                  <a:pt x="0" y="2818"/>
                </a:cubicBezTo>
                <a:close/>
              </a:path>
            </a:pathLst>
          </a:custGeom>
          <a:noFill/>
          <a:ln w="9360">
            <a:solidFill>
              <a:srgbClr val="DADDD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1904760" y="5100480"/>
            <a:ext cx="266400" cy="197640"/>
          </a:xfrm>
          <a:custGeom>
            <a:avLst/>
            <a:gdLst/>
            <a:ahLst/>
            <a:rect l="0" t="0" r="r" b="b"/>
            <a:pathLst>
              <a:path w="740" h="549">
                <a:moveTo>
                  <a:pt x="718" y="85"/>
                </a:moveTo>
                <a:lnTo>
                  <a:pt x="568" y="3"/>
                </a:lnTo>
                <a:cubicBezTo>
                  <a:pt x="564" y="1"/>
                  <a:pt x="561" y="0"/>
                  <a:pt x="557" y="0"/>
                </a:cubicBezTo>
                <a:lnTo>
                  <a:pt x="464" y="0"/>
                </a:lnTo>
                <a:cubicBezTo>
                  <a:pt x="458" y="0"/>
                  <a:pt x="452" y="2"/>
                  <a:pt x="448" y="7"/>
                </a:cubicBezTo>
                <a:cubicBezTo>
                  <a:pt x="443" y="11"/>
                  <a:pt x="441" y="17"/>
                  <a:pt x="441" y="23"/>
                </a:cubicBezTo>
                <a:cubicBezTo>
                  <a:pt x="441" y="66"/>
                  <a:pt x="406" y="93"/>
                  <a:pt x="372" y="93"/>
                </a:cubicBezTo>
                <a:cubicBezTo>
                  <a:pt x="337" y="93"/>
                  <a:pt x="302" y="66"/>
                  <a:pt x="302" y="23"/>
                </a:cubicBezTo>
                <a:cubicBezTo>
                  <a:pt x="302" y="17"/>
                  <a:pt x="300" y="11"/>
                  <a:pt x="295" y="7"/>
                </a:cubicBezTo>
                <a:cubicBezTo>
                  <a:pt x="291" y="2"/>
                  <a:pt x="285" y="0"/>
                  <a:pt x="279" y="0"/>
                </a:cubicBezTo>
                <a:lnTo>
                  <a:pt x="185" y="0"/>
                </a:lnTo>
                <a:cubicBezTo>
                  <a:pt x="181" y="0"/>
                  <a:pt x="178" y="1"/>
                  <a:pt x="174" y="3"/>
                </a:cubicBezTo>
                <a:lnTo>
                  <a:pt x="25" y="85"/>
                </a:lnTo>
                <a:cubicBezTo>
                  <a:pt x="19" y="87"/>
                  <a:pt x="15" y="91"/>
                  <a:pt x="11" y="96"/>
                </a:cubicBezTo>
                <a:cubicBezTo>
                  <a:pt x="7" y="100"/>
                  <a:pt x="4" y="106"/>
                  <a:pt x="2" y="111"/>
                </a:cubicBezTo>
                <a:cubicBezTo>
                  <a:pt x="1" y="117"/>
                  <a:pt x="0" y="123"/>
                  <a:pt x="0" y="129"/>
                </a:cubicBezTo>
                <a:cubicBezTo>
                  <a:pt x="1" y="135"/>
                  <a:pt x="3" y="141"/>
                  <a:pt x="5" y="146"/>
                </a:cubicBezTo>
                <a:lnTo>
                  <a:pt x="61" y="252"/>
                </a:lnTo>
                <a:cubicBezTo>
                  <a:pt x="68" y="265"/>
                  <a:pt x="81" y="270"/>
                  <a:pt x="95" y="270"/>
                </a:cubicBezTo>
                <a:lnTo>
                  <a:pt x="162" y="270"/>
                </a:lnTo>
                <a:lnTo>
                  <a:pt x="162" y="503"/>
                </a:lnTo>
                <a:cubicBezTo>
                  <a:pt x="162" y="528"/>
                  <a:pt x="183" y="549"/>
                  <a:pt x="209" y="549"/>
                </a:cubicBezTo>
                <a:lnTo>
                  <a:pt x="534" y="549"/>
                </a:lnTo>
                <a:cubicBezTo>
                  <a:pt x="559" y="549"/>
                  <a:pt x="580" y="528"/>
                  <a:pt x="580" y="503"/>
                </a:cubicBezTo>
                <a:lnTo>
                  <a:pt x="580" y="270"/>
                </a:lnTo>
                <a:lnTo>
                  <a:pt x="648" y="270"/>
                </a:lnTo>
                <a:cubicBezTo>
                  <a:pt x="661" y="270"/>
                  <a:pt x="674" y="265"/>
                  <a:pt x="681" y="252"/>
                </a:cubicBezTo>
                <a:lnTo>
                  <a:pt x="737" y="146"/>
                </a:lnTo>
                <a:cubicBezTo>
                  <a:pt x="746" y="122"/>
                  <a:pt x="735" y="95"/>
                  <a:pt x="718" y="85"/>
                </a:cubicBezTo>
                <a:moveTo>
                  <a:pt x="103" y="231"/>
                </a:moveTo>
                <a:cubicBezTo>
                  <a:pt x="102" y="231"/>
                  <a:pt x="102" y="231"/>
                  <a:pt x="102" y="231"/>
                </a:cubicBezTo>
                <a:lnTo>
                  <a:pt x="47" y="125"/>
                </a:lnTo>
                <a:lnTo>
                  <a:pt x="162" y="62"/>
                </a:lnTo>
                <a:lnTo>
                  <a:pt x="162" y="231"/>
                </a:lnTo>
                <a:lnTo>
                  <a:pt x="103" y="231"/>
                </a:lnTo>
                <a:moveTo>
                  <a:pt x="639" y="231"/>
                </a:moveTo>
                <a:lnTo>
                  <a:pt x="580" y="231"/>
                </a:lnTo>
                <a:lnTo>
                  <a:pt x="580" y="62"/>
                </a:lnTo>
                <a:lnTo>
                  <a:pt x="695" y="125"/>
                </a:lnTo>
                <a:lnTo>
                  <a:pt x="640" y="231"/>
                </a:lnTo>
                <a:lnTo>
                  <a:pt x="639" y="231"/>
                </a:lnTo>
                <a:close/>
              </a:path>
            </a:pathLst>
          </a:custGeom>
          <a:solidFill>
            <a:srgbClr val="295A9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5010840" y="4532400"/>
            <a:ext cx="19364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1" u="none" strike="noStrike">
                <a:solidFill>
                  <a:srgbClr val="928781"/>
                </a:solidFill>
                <a:effectLst/>
                <a:uFillTx/>
                <a:latin typeface="NotoSans-Semi"/>
                <a:ea typeface="NotoSans-Semi"/>
              </a:rPr>
              <a:t>APP AUF EINEN BLICK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1167840" y="5332680"/>
            <a:ext cx="173772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Alle Kleidungsstücke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3462120" y="4890960"/>
            <a:ext cx="2562480" cy="1086120"/>
          </a:xfrm>
          <a:custGeom>
            <a:avLst/>
            <a:gdLst/>
            <a:ahLst/>
            <a:rect l="0" t="0" r="r" b="b"/>
            <a:pathLst>
              <a:path w="7118" h="3017">
                <a:moveTo>
                  <a:pt x="0" y="2818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6920" y="0"/>
                </a:lnTo>
                <a:cubicBezTo>
                  <a:pt x="6933" y="0"/>
                  <a:pt x="6946" y="1"/>
                  <a:pt x="6959" y="4"/>
                </a:cubicBezTo>
                <a:cubicBezTo>
                  <a:pt x="6971" y="6"/>
                  <a:pt x="6984" y="10"/>
                  <a:pt x="6996" y="15"/>
                </a:cubicBezTo>
                <a:cubicBezTo>
                  <a:pt x="7008" y="20"/>
                  <a:pt x="7019" y="26"/>
                  <a:pt x="7030" y="33"/>
                </a:cubicBezTo>
                <a:cubicBezTo>
                  <a:pt x="7041" y="41"/>
                  <a:pt x="7051" y="49"/>
                  <a:pt x="7060" y="58"/>
                </a:cubicBezTo>
                <a:cubicBezTo>
                  <a:pt x="7069" y="67"/>
                  <a:pt x="7078" y="77"/>
                  <a:pt x="7085" y="88"/>
                </a:cubicBezTo>
                <a:cubicBezTo>
                  <a:pt x="7092" y="99"/>
                  <a:pt x="7098" y="110"/>
                  <a:pt x="7103" y="122"/>
                </a:cubicBezTo>
                <a:cubicBezTo>
                  <a:pt x="7108" y="134"/>
                  <a:pt x="7112" y="147"/>
                  <a:pt x="7115" y="160"/>
                </a:cubicBezTo>
                <a:cubicBezTo>
                  <a:pt x="7117" y="172"/>
                  <a:pt x="7118" y="185"/>
                  <a:pt x="7118" y="198"/>
                </a:cubicBezTo>
                <a:lnTo>
                  <a:pt x="7118" y="2818"/>
                </a:lnTo>
                <a:cubicBezTo>
                  <a:pt x="7118" y="2831"/>
                  <a:pt x="7117" y="2844"/>
                  <a:pt x="7115" y="2856"/>
                </a:cubicBezTo>
                <a:cubicBezTo>
                  <a:pt x="7112" y="2869"/>
                  <a:pt x="7108" y="2882"/>
                  <a:pt x="7103" y="2894"/>
                </a:cubicBezTo>
                <a:cubicBezTo>
                  <a:pt x="7098" y="2906"/>
                  <a:pt x="7092" y="2917"/>
                  <a:pt x="7085" y="2928"/>
                </a:cubicBezTo>
                <a:cubicBezTo>
                  <a:pt x="7078" y="2939"/>
                  <a:pt x="7069" y="2949"/>
                  <a:pt x="7060" y="2958"/>
                </a:cubicBezTo>
                <a:cubicBezTo>
                  <a:pt x="7051" y="2967"/>
                  <a:pt x="7041" y="2975"/>
                  <a:pt x="7030" y="2983"/>
                </a:cubicBezTo>
                <a:cubicBezTo>
                  <a:pt x="7019" y="2990"/>
                  <a:pt x="7008" y="2996"/>
                  <a:pt x="6996" y="3001"/>
                </a:cubicBezTo>
                <a:cubicBezTo>
                  <a:pt x="6984" y="3007"/>
                  <a:pt x="6971" y="3011"/>
                  <a:pt x="6959" y="3013"/>
                </a:cubicBezTo>
                <a:cubicBezTo>
                  <a:pt x="6946" y="3016"/>
                  <a:pt x="6933" y="3017"/>
                  <a:pt x="6920" y="3017"/>
                </a:cubicBezTo>
                <a:lnTo>
                  <a:pt x="199" y="3017"/>
                </a:lnTo>
                <a:cubicBezTo>
                  <a:pt x="186" y="3017"/>
                  <a:pt x="173" y="3016"/>
                  <a:pt x="160" y="3013"/>
                </a:cubicBezTo>
                <a:cubicBezTo>
                  <a:pt x="147" y="3011"/>
                  <a:pt x="135" y="3007"/>
                  <a:pt x="123" y="3001"/>
                </a:cubicBezTo>
                <a:cubicBezTo>
                  <a:pt x="111" y="2996"/>
                  <a:pt x="99" y="2990"/>
                  <a:pt x="88" y="2983"/>
                </a:cubicBezTo>
                <a:cubicBezTo>
                  <a:pt x="77" y="2975"/>
                  <a:pt x="67" y="2967"/>
                  <a:pt x="58" y="2958"/>
                </a:cubicBezTo>
                <a:cubicBezTo>
                  <a:pt x="49" y="2949"/>
                  <a:pt x="41" y="2939"/>
                  <a:pt x="34" y="2928"/>
                </a:cubicBezTo>
                <a:cubicBezTo>
                  <a:pt x="26" y="2917"/>
                  <a:pt x="20" y="2906"/>
                  <a:pt x="15" y="2894"/>
                </a:cubicBezTo>
                <a:cubicBezTo>
                  <a:pt x="10" y="2882"/>
                  <a:pt x="6" y="2869"/>
                  <a:pt x="4" y="2856"/>
                </a:cubicBezTo>
                <a:cubicBezTo>
                  <a:pt x="1" y="2844"/>
                  <a:pt x="0" y="2831"/>
                  <a:pt x="0" y="2818"/>
                </a:cubicBezTo>
                <a:close/>
              </a:path>
            </a:pathLst>
          </a:custGeom>
          <a:solidFill>
            <a:srgbClr val="F5F5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3462120" y="4890960"/>
            <a:ext cx="2562480" cy="1086120"/>
          </a:xfrm>
          <a:custGeom>
            <a:avLst/>
            <a:gdLst/>
            <a:ahLst/>
            <a:rect l="0" t="0" r="r" b="b"/>
            <a:pathLst>
              <a:path w="7118" h="3017">
                <a:moveTo>
                  <a:pt x="0" y="2818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6920" y="0"/>
                </a:lnTo>
                <a:cubicBezTo>
                  <a:pt x="6933" y="0"/>
                  <a:pt x="6946" y="1"/>
                  <a:pt x="6959" y="4"/>
                </a:cubicBezTo>
                <a:cubicBezTo>
                  <a:pt x="6971" y="6"/>
                  <a:pt x="6984" y="10"/>
                  <a:pt x="6996" y="15"/>
                </a:cubicBezTo>
                <a:cubicBezTo>
                  <a:pt x="7008" y="20"/>
                  <a:pt x="7019" y="26"/>
                  <a:pt x="7030" y="33"/>
                </a:cubicBezTo>
                <a:cubicBezTo>
                  <a:pt x="7041" y="41"/>
                  <a:pt x="7051" y="49"/>
                  <a:pt x="7060" y="58"/>
                </a:cubicBezTo>
                <a:cubicBezTo>
                  <a:pt x="7069" y="67"/>
                  <a:pt x="7078" y="77"/>
                  <a:pt x="7085" y="88"/>
                </a:cubicBezTo>
                <a:cubicBezTo>
                  <a:pt x="7092" y="99"/>
                  <a:pt x="7098" y="110"/>
                  <a:pt x="7103" y="122"/>
                </a:cubicBezTo>
                <a:cubicBezTo>
                  <a:pt x="7108" y="134"/>
                  <a:pt x="7112" y="147"/>
                  <a:pt x="7115" y="160"/>
                </a:cubicBezTo>
                <a:cubicBezTo>
                  <a:pt x="7117" y="172"/>
                  <a:pt x="7118" y="185"/>
                  <a:pt x="7118" y="198"/>
                </a:cubicBezTo>
                <a:lnTo>
                  <a:pt x="7118" y="2818"/>
                </a:lnTo>
                <a:cubicBezTo>
                  <a:pt x="7118" y="2831"/>
                  <a:pt x="7117" y="2844"/>
                  <a:pt x="7115" y="2856"/>
                </a:cubicBezTo>
                <a:cubicBezTo>
                  <a:pt x="7112" y="2869"/>
                  <a:pt x="7108" y="2882"/>
                  <a:pt x="7103" y="2894"/>
                </a:cubicBezTo>
                <a:cubicBezTo>
                  <a:pt x="7098" y="2906"/>
                  <a:pt x="7092" y="2917"/>
                  <a:pt x="7085" y="2928"/>
                </a:cubicBezTo>
                <a:cubicBezTo>
                  <a:pt x="7078" y="2939"/>
                  <a:pt x="7069" y="2949"/>
                  <a:pt x="7060" y="2958"/>
                </a:cubicBezTo>
                <a:cubicBezTo>
                  <a:pt x="7051" y="2967"/>
                  <a:pt x="7041" y="2975"/>
                  <a:pt x="7030" y="2983"/>
                </a:cubicBezTo>
                <a:cubicBezTo>
                  <a:pt x="7019" y="2990"/>
                  <a:pt x="7008" y="2996"/>
                  <a:pt x="6996" y="3001"/>
                </a:cubicBezTo>
                <a:cubicBezTo>
                  <a:pt x="6984" y="3007"/>
                  <a:pt x="6971" y="3011"/>
                  <a:pt x="6959" y="3013"/>
                </a:cubicBezTo>
                <a:cubicBezTo>
                  <a:pt x="6946" y="3016"/>
                  <a:pt x="6933" y="3017"/>
                  <a:pt x="6920" y="3017"/>
                </a:cubicBezTo>
                <a:lnTo>
                  <a:pt x="199" y="3017"/>
                </a:lnTo>
                <a:cubicBezTo>
                  <a:pt x="186" y="3017"/>
                  <a:pt x="173" y="3016"/>
                  <a:pt x="160" y="3013"/>
                </a:cubicBezTo>
                <a:cubicBezTo>
                  <a:pt x="147" y="3011"/>
                  <a:pt x="135" y="3007"/>
                  <a:pt x="123" y="3001"/>
                </a:cubicBezTo>
                <a:cubicBezTo>
                  <a:pt x="111" y="2996"/>
                  <a:pt x="99" y="2990"/>
                  <a:pt x="88" y="2983"/>
                </a:cubicBezTo>
                <a:cubicBezTo>
                  <a:pt x="77" y="2975"/>
                  <a:pt x="67" y="2967"/>
                  <a:pt x="58" y="2958"/>
                </a:cubicBezTo>
                <a:cubicBezTo>
                  <a:pt x="49" y="2949"/>
                  <a:pt x="41" y="2939"/>
                  <a:pt x="34" y="2928"/>
                </a:cubicBezTo>
                <a:cubicBezTo>
                  <a:pt x="26" y="2917"/>
                  <a:pt x="20" y="2906"/>
                  <a:pt x="15" y="2894"/>
                </a:cubicBezTo>
                <a:cubicBezTo>
                  <a:pt x="10" y="2882"/>
                  <a:pt x="6" y="2869"/>
                  <a:pt x="4" y="2856"/>
                </a:cubicBezTo>
                <a:cubicBezTo>
                  <a:pt x="1" y="2844"/>
                  <a:pt x="0" y="2831"/>
                  <a:pt x="0" y="2818"/>
                </a:cubicBezTo>
                <a:close/>
              </a:path>
            </a:pathLst>
          </a:custGeom>
          <a:noFill/>
          <a:ln w="9360">
            <a:solidFill>
              <a:srgbClr val="DADDD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1333080" y="5580360"/>
            <a:ext cx="140688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digital verwalten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4601520" y="5006520"/>
            <a:ext cx="282600" cy="32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20" b="0" u="none" strike="noStrike">
                <a:solidFill>
                  <a:srgbClr val="295A97"/>
                </a:solidFill>
                <a:effectLst/>
                <a:uFillTx/>
                <a:latin typeface="AdwaitaSans"/>
                <a:ea typeface="AdwaitaSans"/>
              </a:rPr>
              <a:t>★</a:t>
            </a:r>
            <a:endParaRPr lang="en-US" sz="2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3691800" y="5313600"/>
            <a:ext cx="210600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Multi-Select für beliebige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6167160" y="4890960"/>
            <a:ext cx="2562840" cy="1086120"/>
          </a:xfrm>
          <a:custGeom>
            <a:avLst/>
            <a:gdLst/>
            <a:ahLst/>
            <a:rect l="0" t="0" r="r" b="b"/>
            <a:pathLst>
              <a:path w="7119" h="3017">
                <a:moveTo>
                  <a:pt x="0" y="2818"/>
                </a:moveTo>
                <a:lnTo>
                  <a:pt x="0" y="198"/>
                </a:lnTo>
                <a:cubicBezTo>
                  <a:pt x="0" y="185"/>
                  <a:pt x="2" y="172"/>
                  <a:pt x="4" y="160"/>
                </a:cubicBezTo>
                <a:cubicBezTo>
                  <a:pt x="7" y="147"/>
                  <a:pt x="10" y="134"/>
                  <a:pt x="15" y="122"/>
                </a:cubicBezTo>
                <a:cubicBezTo>
                  <a:pt x="20" y="110"/>
                  <a:pt x="26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8" y="49"/>
                  <a:pt x="78" y="41"/>
                  <a:pt x="88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6920" y="0"/>
                </a:lnTo>
                <a:cubicBezTo>
                  <a:pt x="6933" y="0"/>
                  <a:pt x="6946" y="1"/>
                  <a:pt x="6959" y="4"/>
                </a:cubicBezTo>
                <a:cubicBezTo>
                  <a:pt x="6972" y="6"/>
                  <a:pt x="6984" y="10"/>
                  <a:pt x="6996" y="15"/>
                </a:cubicBezTo>
                <a:cubicBezTo>
                  <a:pt x="7008" y="20"/>
                  <a:pt x="7020" y="26"/>
                  <a:pt x="7030" y="33"/>
                </a:cubicBezTo>
                <a:cubicBezTo>
                  <a:pt x="7041" y="41"/>
                  <a:pt x="7051" y="49"/>
                  <a:pt x="7060" y="58"/>
                </a:cubicBezTo>
                <a:cubicBezTo>
                  <a:pt x="7070" y="67"/>
                  <a:pt x="7078" y="77"/>
                  <a:pt x="7085" y="88"/>
                </a:cubicBezTo>
                <a:cubicBezTo>
                  <a:pt x="7092" y="99"/>
                  <a:pt x="7098" y="110"/>
                  <a:pt x="7103" y="122"/>
                </a:cubicBezTo>
                <a:cubicBezTo>
                  <a:pt x="7108" y="134"/>
                  <a:pt x="7112" y="147"/>
                  <a:pt x="7115" y="160"/>
                </a:cubicBezTo>
                <a:cubicBezTo>
                  <a:pt x="7117" y="172"/>
                  <a:pt x="7119" y="185"/>
                  <a:pt x="7119" y="198"/>
                </a:cubicBezTo>
                <a:lnTo>
                  <a:pt x="7119" y="2818"/>
                </a:lnTo>
                <a:cubicBezTo>
                  <a:pt x="7119" y="2831"/>
                  <a:pt x="7117" y="2844"/>
                  <a:pt x="7115" y="2856"/>
                </a:cubicBezTo>
                <a:cubicBezTo>
                  <a:pt x="7112" y="2869"/>
                  <a:pt x="7108" y="2882"/>
                  <a:pt x="7103" y="2894"/>
                </a:cubicBezTo>
                <a:cubicBezTo>
                  <a:pt x="7098" y="2906"/>
                  <a:pt x="7092" y="2917"/>
                  <a:pt x="7085" y="2928"/>
                </a:cubicBezTo>
                <a:cubicBezTo>
                  <a:pt x="7078" y="2939"/>
                  <a:pt x="7070" y="2949"/>
                  <a:pt x="7060" y="2958"/>
                </a:cubicBezTo>
                <a:cubicBezTo>
                  <a:pt x="7051" y="2967"/>
                  <a:pt x="7041" y="2975"/>
                  <a:pt x="7030" y="2983"/>
                </a:cubicBezTo>
                <a:cubicBezTo>
                  <a:pt x="7020" y="2990"/>
                  <a:pt x="7008" y="2996"/>
                  <a:pt x="6996" y="3001"/>
                </a:cubicBezTo>
                <a:cubicBezTo>
                  <a:pt x="6984" y="3007"/>
                  <a:pt x="6972" y="3011"/>
                  <a:pt x="6959" y="3013"/>
                </a:cubicBezTo>
                <a:cubicBezTo>
                  <a:pt x="6946" y="3016"/>
                  <a:pt x="6933" y="3017"/>
                  <a:pt x="6920" y="3017"/>
                </a:cubicBezTo>
                <a:lnTo>
                  <a:pt x="199" y="3017"/>
                </a:lnTo>
                <a:cubicBezTo>
                  <a:pt x="186" y="3017"/>
                  <a:pt x="173" y="3016"/>
                  <a:pt x="160" y="3013"/>
                </a:cubicBezTo>
                <a:cubicBezTo>
                  <a:pt x="147" y="3011"/>
                  <a:pt x="135" y="3007"/>
                  <a:pt x="123" y="3001"/>
                </a:cubicBezTo>
                <a:cubicBezTo>
                  <a:pt x="111" y="2996"/>
                  <a:pt x="99" y="2990"/>
                  <a:pt x="88" y="2983"/>
                </a:cubicBezTo>
                <a:cubicBezTo>
                  <a:pt x="78" y="2975"/>
                  <a:pt x="68" y="2967"/>
                  <a:pt x="58" y="2958"/>
                </a:cubicBezTo>
                <a:cubicBezTo>
                  <a:pt x="49" y="2949"/>
                  <a:pt x="41" y="2939"/>
                  <a:pt x="34" y="2928"/>
                </a:cubicBezTo>
                <a:cubicBezTo>
                  <a:pt x="26" y="2917"/>
                  <a:pt x="20" y="2906"/>
                  <a:pt x="15" y="2894"/>
                </a:cubicBezTo>
                <a:cubicBezTo>
                  <a:pt x="10" y="2882"/>
                  <a:pt x="7" y="2869"/>
                  <a:pt x="4" y="2856"/>
                </a:cubicBezTo>
                <a:cubicBezTo>
                  <a:pt x="2" y="2844"/>
                  <a:pt x="0" y="2831"/>
                  <a:pt x="0" y="2818"/>
                </a:cubicBezTo>
                <a:close/>
              </a:path>
            </a:pathLst>
          </a:custGeom>
          <a:solidFill>
            <a:srgbClr val="F5F5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6167160" y="4890960"/>
            <a:ext cx="2562840" cy="1086120"/>
          </a:xfrm>
          <a:custGeom>
            <a:avLst/>
            <a:gdLst/>
            <a:ahLst/>
            <a:rect l="0" t="0" r="r" b="b"/>
            <a:pathLst>
              <a:path w="7119" h="3017">
                <a:moveTo>
                  <a:pt x="0" y="2818"/>
                </a:moveTo>
                <a:lnTo>
                  <a:pt x="0" y="198"/>
                </a:lnTo>
                <a:cubicBezTo>
                  <a:pt x="0" y="185"/>
                  <a:pt x="2" y="172"/>
                  <a:pt x="4" y="160"/>
                </a:cubicBezTo>
                <a:cubicBezTo>
                  <a:pt x="7" y="147"/>
                  <a:pt x="10" y="134"/>
                  <a:pt x="15" y="122"/>
                </a:cubicBezTo>
                <a:cubicBezTo>
                  <a:pt x="20" y="110"/>
                  <a:pt x="26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8" y="49"/>
                  <a:pt x="78" y="41"/>
                  <a:pt x="88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6920" y="0"/>
                </a:lnTo>
                <a:cubicBezTo>
                  <a:pt x="6933" y="0"/>
                  <a:pt x="6946" y="1"/>
                  <a:pt x="6959" y="4"/>
                </a:cubicBezTo>
                <a:cubicBezTo>
                  <a:pt x="6972" y="6"/>
                  <a:pt x="6984" y="10"/>
                  <a:pt x="6996" y="15"/>
                </a:cubicBezTo>
                <a:cubicBezTo>
                  <a:pt x="7008" y="20"/>
                  <a:pt x="7020" y="26"/>
                  <a:pt x="7030" y="33"/>
                </a:cubicBezTo>
                <a:cubicBezTo>
                  <a:pt x="7041" y="41"/>
                  <a:pt x="7051" y="49"/>
                  <a:pt x="7060" y="58"/>
                </a:cubicBezTo>
                <a:cubicBezTo>
                  <a:pt x="7070" y="67"/>
                  <a:pt x="7078" y="77"/>
                  <a:pt x="7085" y="88"/>
                </a:cubicBezTo>
                <a:cubicBezTo>
                  <a:pt x="7092" y="99"/>
                  <a:pt x="7098" y="110"/>
                  <a:pt x="7103" y="122"/>
                </a:cubicBezTo>
                <a:cubicBezTo>
                  <a:pt x="7108" y="134"/>
                  <a:pt x="7112" y="147"/>
                  <a:pt x="7115" y="160"/>
                </a:cubicBezTo>
                <a:cubicBezTo>
                  <a:pt x="7117" y="172"/>
                  <a:pt x="7119" y="185"/>
                  <a:pt x="7119" y="198"/>
                </a:cubicBezTo>
                <a:lnTo>
                  <a:pt x="7119" y="2818"/>
                </a:lnTo>
                <a:cubicBezTo>
                  <a:pt x="7119" y="2831"/>
                  <a:pt x="7117" y="2844"/>
                  <a:pt x="7115" y="2856"/>
                </a:cubicBezTo>
                <a:cubicBezTo>
                  <a:pt x="7112" y="2869"/>
                  <a:pt x="7108" y="2882"/>
                  <a:pt x="7103" y="2894"/>
                </a:cubicBezTo>
                <a:cubicBezTo>
                  <a:pt x="7098" y="2906"/>
                  <a:pt x="7092" y="2917"/>
                  <a:pt x="7085" y="2928"/>
                </a:cubicBezTo>
                <a:cubicBezTo>
                  <a:pt x="7078" y="2939"/>
                  <a:pt x="7070" y="2949"/>
                  <a:pt x="7060" y="2958"/>
                </a:cubicBezTo>
                <a:cubicBezTo>
                  <a:pt x="7051" y="2967"/>
                  <a:pt x="7041" y="2975"/>
                  <a:pt x="7030" y="2983"/>
                </a:cubicBezTo>
                <a:cubicBezTo>
                  <a:pt x="7020" y="2990"/>
                  <a:pt x="7008" y="2996"/>
                  <a:pt x="6996" y="3001"/>
                </a:cubicBezTo>
                <a:cubicBezTo>
                  <a:pt x="6984" y="3007"/>
                  <a:pt x="6972" y="3011"/>
                  <a:pt x="6959" y="3013"/>
                </a:cubicBezTo>
                <a:cubicBezTo>
                  <a:pt x="6946" y="3016"/>
                  <a:pt x="6933" y="3017"/>
                  <a:pt x="6920" y="3017"/>
                </a:cubicBezTo>
                <a:lnTo>
                  <a:pt x="199" y="3017"/>
                </a:lnTo>
                <a:cubicBezTo>
                  <a:pt x="186" y="3017"/>
                  <a:pt x="173" y="3016"/>
                  <a:pt x="160" y="3013"/>
                </a:cubicBezTo>
                <a:cubicBezTo>
                  <a:pt x="147" y="3011"/>
                  <a:pt x="135" y="3007"/>
                  <a:pt x="123" y="3001"/>
                </a:cubicBezTo>
                <a:cubicBezTo>
                  <a:pt x="111" y="2996"/>
                  <a:pt x="99" y="2990"/>
                  <a:pt x="88" y="2983"/>
                </a:cubicBezTo>
                <a:cubicBezTo>
                  <a:pt x="78" y="2975"/>
                  <a:pt x="68" y="2967"/>
                  <a:pt x="58" y="2958"/>
                </a:cubicBezTo>
                <a:cubicBezTo>
                  <a:pt x="49" y="2949"/>
                  <a:pt x="41" y="2939"/>
                  <a:pt x="34" y="2928"/>
                </a:cubicBezTo>
                <a:cubicBezTo>
                  <a:pt x="26" y="2917"/>
                  <a:pt x="20" y="2906"/>
                  <a:pt x="15" y="2894"/>
                </a:cubicBezTo>
                <a:cubicBezTo>
                  <a:pt x="10" y="2882"/>
                  <a:pt x="7" y="2869"/>
                  <a:pt x="4" y="2856"/>
                </a:cubicBezTo>
                <a:cubicBezTo>
                  <a:pt x="2" y="2844"/>
                  <a:pt x="0" y="2831"/>
                  <a:pt x="0" y="2818"/>
                </a:cubicBezTo>
                <a:close/>
              </a:path>
            </a:pathLst>
          </a:custGeom>
          <a:noFill/>
          <a:ln w="9360">
            <a:solidFill>
              <a:srgbClr val="DADDD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4092840" y="5570640"/>
            <a:ext cx="13017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Kombinationen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7339320" y="4991400"/>
            <a:ext cx="268920" cy="35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20" b="0" u="none" strike="noStrike">
                <a:solidFill>
                  <a:srgbClr val="295A97"/>
                </a:solidFill>
                <a:effectLst/>
                <a:uFillTx/>
                <a:latin typeface="IBMPlexSans"/>
                <a:ea typeface="IBMPlexSans"/>
              </a:rPr>
              <a:t>↻</a:t>
            </a:r>
            <a:endParaRPr lang="en-US" sz="2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6539040" y="5313600"/>
            <a:ext cx="18291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Radar-Chart bewertet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8872200" y="4890960"/>
            <a:ext cx="2572200" cy="1086120"/>
          </a:xfrm>
          <a:custGeom>
            <a:avLst/>
            <a:gdLst/>
            <a:ahLst/>
            <a:rect l="0" t="0" r="r" b="b"/>
            <a:pathLst>
              <a:path w="7145" h="3017">
                <a:moveTo>
                  <a:pt x="0" y="2818"/>
                </a:moveTo>
                <a:lnTo>
                  <a:pt x="0" y="198"/>
                </a:lnTo>
                <a:cubicBezTo>
                  <a:pt x="0" y="185"/>
                  <a:pt x="2" y="172"/>
                  <a:pt x="4" y="160"/>
                </a:cubicBezTo>
                <a:cubicBezTo>
                  <a:pt x="7" y="147"/>
                  <a:pt x="11" y="134"/>
                  <a:pt x="16" y="122"/>
                </a:cubicBezTo>
                <a:cubicBezTo>
                  <a:pt x="21" y="110"/>
                  <a:pt x="27" y="99"/>
                  <a:pt x="34" y="88"/>
                </a:cubicBezTo>
                <a:cubicBezTo>
                  <a:pt x="41" y="77"/>
                  <a:pt x="49" y="67"/>
                  <a:pt x="59" y="58"/>
                </a:cubicBezTo>
                <a:cubicBezTo>
                  <a:pt x="68" y="49"/>
                  <a:pt x="78" y="41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6947" y="0"/>
                </a:lnTo>
                <a:cubicBezTo>
                  <a:pt x="6960" y="0"/>
                  <a:pt x="6973" y="1"/>
                  <a:pt x="6985" y="4"/>
                </a:cubicBezTo>
                <a:cubicBezTo>
                  <a:pt x="6998" y="6"/>
                  <a:pt x="7011" y="10"/>
                  <a:pt x="7023" y="15"/>
                </a:cubicBezTo>
                <a:cubicBezTo>
                  <a:pt x="7035" y="20"/>
                  <a:pt x="7046" y="26"/>
                  <a:pt x="7057" y="33"/>
                </a:cubicBezTo>
                <a:cubicBezTo>
                  <a:pt x="7068" y="41"/>
                  <a:pt x="7078" y="49"/>
                  <a:pt x="7087" y="58"/>
                </a:cubicBezTo>
                <a:cubicBezTo>
                  <a:pt x="7096" y="67"/>
                  <a:pt x="7105" y="77"/>
                  <a:pt x="7112" y="88"/>
                </a:cubicBezTo>
                <a:cubicBezTo>
                  <a:pt x="7119" y="99"/>
                  <a:pt x="7125" y="110"/>
                  <a:pt x="7130" y="122"/>
                </a:cubicBezTo>
                <a:cubicBezTo>
                  <a:pt x="7135" y="134"/>
                  <a:pt x="7139" y="147"/>
                  <a:pt x="7141" y="160"/>
                </a:cubicBezTo>
                <a:cubicBezTo>
                  <a:pt x="7144" y="172"/>
                  <a:pt x="7145" y="185"/>
                  <a:pt x="7145" y="198"/>
                </a:cubicBezTo>
                <a:lnTo>
                  <a:pt x="7145" y="2818"/>
                </a:lnTo>
                <a:cubicBezTo>
                  <a:pt x="7145" y="2831"/>
                  <a:pt x="7144" y="2844"/>
                  <a:pt x="7141" y="2856"/>
                </a:cubicBezTo>
                <a:cubicBezTo>
                  <a:pt x="7139" y="2869"/>
                  <a:pt x="7135" y="2882"/>
                  <a:pt x="7130" y="2894"/>
                </a:cubicBezTo>
                <a:cubicBezTo>
                  <a:pt x="7125" y="2906"/>
                  <a:pt x="7119" y="2917"/>
                  <a:pt x="7112" y="2928"/>
                </a:cubicBezTo>
                <a:cubicBezTo>
                  <a:pt x="7105" y="2939"/>
                  <a:pt x="7096" y="2949"/>
                  <a:pt x="7087" y="2958"/>
                </a:cubicBezTo>
                <a:cubicBezTo>
                  <a:pt x="7078" y="2967"/>
                  <a:pt x="7068" y="2975"/>
                  <a:pt x="7057" y="2983"/>
                </a:cubicBezTo>
                <a:cubicBezTo>
                  <a:pt x="7046" y="2990"/>
                  <a:pt x="7035" y="2996"/>
                  <a:pt x="7023" y="3001"/>
                </a:cubicBezTo>
                <a:cubicBezTo>
                  <a:pt x="7011" y="3007"/>
                  <a:pt x="6998" y="3011"/>
                  <a:pt x="6985" y="3013"/>
                </a:cubicBezTo>
                <a:cubicBezTo>
                  <a:pt x="6973" y="3016"/>
                  <a:pt x="6960" y="3017"/>
                  <a:pt x="6947" y="3017"/>
                </a:cubicBezTo>
                <a:lnTo>
                  <a:pt x="199" y="3017"/>
                </a:lnTo>
                <a:cubicBezTo>
                  <a:pt x="186" y="3017"/>
                  <a:pt x="173" y="3016"/>
                  <a:pt x="160" y="3013"/>
                </a:cubicBezTo>
                <a:cubicBezTo>
                  <a:pt x="147" y="3011"/>
                  <a:pt x="135" y="3007"/>
                  <a:pt x="123" y="3001"/>
                </a:cubicBezTo>
                <a:cubicBezTo>
                  <a:pt x="111" y="2996"/>
                  <a:pt x="99" y="2990"/>
                  <a:pt x="89" y="2983"/>
                </a:cubicBezTo>
                <a:cubicBezTo>
                  <a:pt x="78" y="2975"/>
                  <a:pt x="68" y="2967"/>
                  <a:pt x="59" y="2958"/>
                </a:cubicBezTo>
                <a:cubicBezTo>
                  <a:pt x="49" y="2949"/>
                  <a:pt x="41" y="2939"/>
                  <a:pt x="34" y="2928"/>
                </a:cubicBezTo>
                <a:cubicBezTo>
                  <a:pt x="27" y="2917"/>
                  <a:pt x="21" y="2906"/>
                  <a:pt x="16" y="2894"/>
                </a:cubicBezTo>
                <a:cubicBezTo>
                  <a:pt x="11" y="2882"/>
                  <a:pt x="7" y="2869"/>
                  <a:pt x="4" y="2856"/>
                </a:cubicBezTo>
                <a:cubicBezTo>
                  <a:pt x="2" y="2844"/>
                  <a:pt x="0" y="2831"/>
                  <a:pt x="0" y="2818"/>
                </a:cubicBezTo>
                <a:close/>
              </a:path>
            </a:pathLst>
          </a:custGeom>
          <a:solidFill>
            <a:srgbClr val="F5F5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8872200" y="4890960"/>
            <a:ext cx="2572200" cy="1086120"/>
          </a:xfrm>
          <a:custGeom>
            <a:avLst/>
            <a:gdLst/>
            <a:ahLst/>
            <a:rect l="0" t="0" r="r" b="b"/>
            <a:pathLst>
              <a:path w="7145" h="3017">
                <a:moveTo>
                  <a:pt x="0" y="2818"/>
                </a:moveTo>
                <a:lnTo>
                  <a:pt x="0" y="198"/>
                </a:lnTo>
                <a:cubicBezTo>
                  <a:pt x="0" y="185"/>
                  <a:pt x="2" y="172"/>
                  <a:pt x="4" y="160"/>
                </a:cubicBezTo>
                <a:cubicBezTo>
                  <a:pt x="7" y="147"/>
                  <a:pt x="11" y="134"/>
                  <a:pt x="16" y="122"/>
                </a:cubicBezTo>
                <a:cubicBezTo>
                  <a:pt x="21" y="110"/>
                  <a:pt x="27" y="99"/>
                  <a:pt x="34" y="88"/>
                </a:cubicBezTo>
                <a:cubicBezTo>
                  <a:pt x="41" y="77"/>
                  <a:pt x="49" y="67"/>
                  <a:pt x="59" y="58"/>
                </a:cubicBezTo>
                <a:cubicBezTo>
                  <a:pt x="68" y="49"/>
                  <a:pt x="78" y="41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6947" y="0"/>
                </a:lnTo>
                <a:cubicBezTo>
                  <a:pt x="6960" y="0"/>
                  <a:pt x="6973" y="1"/>
                  <a:pt x="6985" y="4"/>
                </a:cubicBezTo>
                <a:cubicBezTo>
                  <a:pt x="6998" y="6"/>
                  <a:pt x="7011" y="10"/>
                  <a:pt x="7023" y="15"/>
                </a:cubicBezTo>
                <a:cubicBezTo>
                  <a:pt x="7035" y="20"/>
                  <a:pt x="7046" y="26"/>
                  <a:pt x="7057" y="33"/>
                </a:cubicBezTo>
                <a:cubicBezTo>
                  <a:pt x="7068" y="41"/>
                  <a:pt x="7078" y="49"/>
                  <a:pt x="7087" y="58"/>
                </a:cubicBezTo>
                <a:cubicBezTo>
                  <a:pt x="7096" y="67"/>
                  <a:pt x="7105" y="77"/>
                  <a:pt x="7112" y="88"/>
                </a:cubicBezTo>
                <a:cubicBezTo>
                  <a:pt x="7119" y="99"/>
                  <a:pt x="7125" y="110"/>
                  <a:pt x="7130" y="122"/>
                </a:cubicBezTo>
                <a:cubicBezTo>
                  <a:pt x="7135" y="134"/>
                  <a:pt x="7139" y="147"/>
                  <a:pt x="7141" y="160"/>
                </a:cubicBezTo>
                <a:cubicBezTo>
                  <a:pt x="7144" y="172"/>
                  <a:pt x="7145" y="185"/>
                  <a:pt x="7145" y="198"/>
                </a:cubicBezTo>
                <a:lnTo>
                  <a:pt x="7145" y="2818"/>
                </a:lnTo>
                <a:cubicBezTo>
                  <a:pt x="7145" y="2831"/>
                  <a:pt x="7144" y="2844"/>
                  <a:pt x="7141" y="2856"/>
                </a:cubicBezTo>
                <a:cubicBezTo>
                  <a:pt x="7139" y="2869"/>
                  <a:pt x="7135" y="2882"/>
                  <a:pt x="7130" y="2894"/>
                </a:cubicBezTo>
                <a:cubicBezTo>
                  <a:pt x="7125" y="2906"/>
                  <a:pt x="7119" y="2917"/>
                  <a:pt x="7112" y="2928"/>
                </a:cubicBezTo>
                <a:cubicBezTo>
                  <a:pt x="7105" y="2939"/>
                  <a:pt x="7096" y="2949"/>
                  <a:pt x="7087" y="2958"/>
                </a:cubicBezTo>
                <a:cubicBezTo>
                  <a:pt x="7078" y="2967"/>
                  <a:pt x="7068" y="2975"/>
                  <a:pt x="7057" y="2983"/>
                </a:cubicBezTo>
                <a:cubicBezTo>
                  <a:pt x="7046" y="2990"/>
                  <a:pt x="7035" y="2996"/>
                  <a:pt x="7023" y="3001"/>
                </a:cubicBezTo>
                <a:cubicBezTo>
                  <a:pt x="7011" y="3007"/>
                  <a:pt x="6998" y="3011"/>
                  <a:pt x="6985" y="3013"/>
                </a:cubicBezTo>
                <a:cubicBezTo>
                  <a:pt x="6973" y="3016"/>
                  <a:pt x="6960" y="3017"/>
                  <a:pt x="6947" y="3017"/>
                </a:cubicBezTo>
                <a:lnTo>
                  <a:pt x="199" y="3017"/>
                </a:lnTo>
                <a:cubicBezTo>
                  <a:pt x="186" y="3017"/>
                  <a:pt x="173" y="3016"/>
                  <a:pt x="160" y="3013"/>
                </a:cubicBezTo>
                <a:cubicBezTo>
                  <a:pt x="147" y="3011"/>
                  <a:pt x="135" y="3007"/>
                  <a:pt x="123" y="3001"/>
                </a:cubicBezTo>
                <a:cubicBezTo>
                  <a:pt x="111" y="2996"/>
                  <a:pt x="99" y="2990"/>
                  <a:pt x="89" y="2983"/>
                </a:cubicBezTo>
                <a:cubicBezTo>
                  <a:pt x="78" y="2975"/>
                  <a:pt x="68" y="2967"/>
                  <a:pt x="59" y="2958"/>
                </a:cubicBezTo>
                <a:cubicBezTo>
                  <a:pt x="49" y="2949"/>
                  <a:pt x="41" y="2939"/>
                  <a:pt x="34" y="2928"/>
                </a:cubicBezTo>
                <a:cubicBezTo>
                  <a:pt x="27" y="2917"/>
                  <a:pt x="21" y="2906"/>
                  <a:pt x="16" y="2894"/>
                </a:cubicBezTo>
                <a:cubicBezTo>
                  <a:pt x="11" y="2882"/>
                  <a:pt x="7" y="2869"/>
                  <a:pt x="4" y="2856"/>
                </a:cubicBezTo>
                <a:cubicBezTo>
                  <a:pt x="2" y="2844"/>
                  <a:pt x="0" y="2831"/>
                  <a:pt x="0" y="2818"/>
                </a:cubicBezTo>
                <a:close/>
              </a:path>
            </a:pathLst>
          </a:custGeom>
          <a:noFill/>
          <a:ln w="9360">
            <a:solidFill>
              <a:srgbClr val="DADDD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6959520" y="5570640"/>
            <a:ext cx="9831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jedes Outﬁt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10046880" y="4991400"/>
            <a:ext cx="268920" cy="35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20" b="0" u="none" strike="noStrike">
                <a:solidFill>
                  <a:srgbClr val="295A97"/>
                </a:solidFill>
                <a:effectLst/>
                <a:uFillTx/>
                <a:latin typeface="IBMPlexSans"/>
                <a:ea typeface="IBMPlexSans"/>
              </a:rPr>
              <a:t>⇄</a:t>
            </a:r>
            <a:endParaRPr lang="en-US" sz="2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9197640" y="5313600"/>
            <a:ext cx="193608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Outﬁt-URLs zum Teilen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9743400" y="5570640"/>
            <a:ext cx="8294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speichern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285840" y="197640"/>
            <a:ext cx="2560320" cy="17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NotoSans"/>
                <a:ea typeface="NotoSans"/>
              </a:rPr>
              <a:t>Martin-Luther-Universität Halle-Wittenberg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285840" y="6465240"/>
            <a:ext cx="2998440" cy="17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NotoSans"/>
                <a:ea typeface="NotoSans"/>
              </a:rPr>
              <a:t>Grundlagen des WWW | SS-26 | Al-Shoumi &amp; Rana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7" name=""/>
          <p:cNvPicPr/>
          <p:nvPr/>
        </p:nvPicPr>
        <p:blipFill>
          <a:blip r:embed="rId1"/>
          <a:stretch/>
        </p:blipFill>
        <p:spPr>
          <a:xfrm>
            <a:off x="10858320" y="142920"/>
            <a:ext cx="952200" cy="51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"/>
          <p:cNvSpPr/>
          <p:nvPr/>
        </p:nvSpPr>
        <p:spPr>
          <a:xfrm>
            <a:off x="752400" y="5495760"/>
            <a:ext cx="10696680" cy="543240"/>
          </a:xfrm>
          <a:custGeom>
            <a:avLst/>
            <a:gdLst/>
            <a:ahLst/>
            <a:rect l="0" t="0" r="r" b="b"/>
            <a:pathLst>
              <a:path w="29713" h="1509">
                <a:moveTo>
                  <a:pt x="0" y="1297"/>
                </a:moveTo>
                <a:lnTo>
                  <a:pt x="0" y="212"/>
                </a:lnTo>
                <a:cubicBezTo>
                  <a:pt x="0" y="198"/>
                  <a:pt x="1" y="184"/>
                  <a:pt x="4" y="170"/>
                </a:cubicBezTo>
                <a:cubicBezTo>
                  <a:pt x="6" y="157"/>
                  <a:pt x="11" y="143"/>
                  <a:pt x="16" y="131"/>
                </a:cubicBezTo>
                <a:cubicBezTo>
                  <a:pt x="21" y="118"/>
                  <a:pt x="28" y="106"/>
                  <a:pt x="35" y="94"/>
                </a:cubicBezTo>
                <a:cubicBezTo>
                  <a:pt x="43" y="82"/>
                  <a:pt x="52" y="72"/>
                  <a:pt x="62" y="62"/>
                </a:cubicBezTo>
                <a:cubicBezTo>
                  <a:pt x="72" y="52"/>
                  <a:pt x="82" y="43"/>
                  <a:pt x="94" y="36"/>
                </a:cubicBezTo>
                <a:cubicBezTo>
                  <a:pt x="105" y="28"/>
                  <a:pt x="118" y="21"/>
                  <a:pt x="130" y="16"/>
                </a:cubicBezTo>
                <a:cubicBezTo>
                  <a:pt x="143" y="11"/>
                  <a:pt x="156" y="7"/>
                  <a:pt x="170" y="4"/>
                </a:cubicBezTo>
                <a:cubicBezTo>
                  <a:pt x="184" y="1"/>
                  <a:pt x="197" y="0"/>
                  <a:pt x="211" y="0"/>
                </a:cubicBezTo>
                <a:lnTo>
                  <a:pt x="29502" y="0"/>
                </a:lnTo>
                <a:cubicBezTo>
                  <a:pt x="29516" y="0"/>
                  <a:pt x="29529" y="1"/>
                  <a:pt x="29543" y="4"/>
                </a:cubicBezTo>
                <a:cubicBezTo>
                  <a:pt x="29557" y="7"/>
                  <a:pt x="29570" y="11"/>
                  <a:pt x="29583" y="16"/>
                </a:cubicBezTo>
                <a:cubicBezTo>
                  <a:pt x="29596" y="21"/>
                  <a:pt x="29608" y="28"/>
                  <a:pt x="29619" y="36"/>
                </a:cubicBezTo>
                <a:cubicBezTo>
                  <a:pt x="29631" y="43"/>
                  <a:pt x="29642" y="52"/>
                  <a:pt x="29651" y="62"/>
                </a:cubicBezTo>
                <a:cubicBezTo>
                  <a:pt x="29661" y="72"/>
                  <a:pt x="29670" y="82"/>
                  <a:pt x="29678" y="94"/>
                </a:cubicBezTo>
                <a:cubicBezTo>
                  <a:pt x="29685" y="106"/>
                  <a:pt x="29692" y="118"/>
                  <a:pt x="29697" y="131"/>
                </a:cubicBezTo>
                <a:cubicBezTo>
                  <a:pt x="29703" y="143"/>
                  <a:pt x="29707" y="157"/>
                  <a:pt x="29709" y="170"/>
                </a:cubicBezTo>
                <a:cubicBezTo>
                  <a:pt x="29712" y="184"/>
                  <a:pt x="29713" y="198"/>
                  <a:pt x="29713" y="212"/>
                </a:cubicBezTo>
                <a:lnTo>
                  <a:pt x="29713" y="1297"/>
                </a:lnTo>
                <a:cubicBezTo>
                  <a:pt x="29713" y="1311"/>
                  <a:pt x="29712" y="1325"/>
                  <a:pt x="29709" y="1339"/>
                </a:cubicBezTo>
                <a:cubicBezTo>
                  <a:pt x="29707" y="1352"/>
                  <a:pt x="29703" y="1366"/>
                  <a:pt x="29697" y="1378"/>
                </a:cubicBezTo>
                <a:cubicBezTo>
                  <a:pt x="29692" y="1391"/>
                  <a:pt x="29685" y="1403"/>
                  <a:pt x="29678" y="1415"/>
                </a:cubicBezTo>
                <a:cubicBezTo>
                  <a:pt x="29670" y="1427"/>
                  <a:pt x="29661" y="1437"/>
                  <a:pt x="29651" y="1447"/>
                </a:cubicBezTo>
                <a:cubicBezTo>
                  <a:pt x="29642" y="1457"/>
                  <a:pt x="29631" y="1466"/>
                  <a:pt x="29619" y="1473"/>
                </a:cubicBezTo>
                <a:cubicBezTo>
                  <a:pt x="29608" y="1481"/>
                  <a:pt x="29596" y="1488"/>
                  <a:pt x="29583" y="1493"/>
                </a:cubicBezTo>
                <a:cubicBezTo>
                  <a:pt x="29570" y="1498"/>
                  <a:pt x="29557" y="1502"/>
                  <a:pt x="29543" y="1505"/>
                </a:cubicBezTo>
                <a:cubicBezTo>
                  <a:pt x="29529" y="1508"/>
                  <a:pt x="29516" y="1509"/>
                  <a:pt x="29502" y="1509"/>
                </a:cubicBezTo>
                <a:lnTo>
                  <a:pt x="211" y="1509"/>
                </a:lnTo>
                <a:cubicBezTo>
                  <a:pt x="197" y="1509"/>
                  <a:pt x="184" y="1508"/>
                  <a:pt x="170" y="1505"/>
                </a:cubicBezTo>
                <a:cubicBezTo>
                  <a:pt x="156" y="1502"/>
                  <a:pt x="143" y="1498"/>
                  <a:pt x="130" y="1493"/>
                </a:cubicBezTo>
                <a:cubicBezTo>
                  <a:pt x="118" y="1488"/>
                  <a:pt x="105" y="1481"/>
                  <a:pt x="94" y="1473"/>
                </a:cubicBezTo>
                <a:cubicBezTo>
                  <a:pt x="82" y="1466"/>
                  <a:pt x="72" y="1457"/>
                  <a:pt x="62" y="1447"/>
                </a:cubicBezTo>
                <a:cubicBezTo>
                  <a:pt x="52" y="1437"/>
                  <a:pt x="43" y="1427"/>
                  <a:pt x="35" y="1415"/>
                </a:cubicBezTo>
                <a:cubicBezTo>
                  <a:pt x="28" y="1403"/>
                  <a:pt x="21" y="1391"/>
                  <a:pt x="16" y="1378"/>
                </a:cubicBezTo>
                <a:cubicBezTo>
                  <a:pt x="11" y="1366"/>
                  <a:pt x="6" y="1352"/>
                  <a:pt x="4" y="1339"/>
                </a:cubicBezTo>
                <a:cubicBezTo>
                  <a:pt x="1" y="1325"/>
                  <a:pt x="0" y="1311"/>
                  <a:pt x="0" y="1297"/>
                </a:cubicBezTo>
                <a:close/>
              </a:path>
            </a:pathLst>
          </a:custGeom>
          <a:solidFill>
            <a:srgbClr val="F5F5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771480" y="1523880"/>
            <a:ext cx="5258160" cy="1857600"/>
          </a:xfrm>
          <a:custGeom>
            <a:avLst/>
            <a:gdLst/>
            <a:ahLst/>
            <a:rect l="0" t="0" r="r" b="b"/>
            <a:pathLst>
              <a:path w="14606" h="5160">
                <a:moveTo>
                  <a:pt x="0" y="5001"/>
                </a:moveTo>
                <a:lnTo>
                  <a:pt x="0" y="159"/>
                </a:lnTo>
                <a:cubicBezTo>
                  <a:pt x="0" y="138"/>
                  <a:pt x="2" y="117"/>
                  <a:pt x="8" y="98"/>
                </a:cubicBezTo>
                <a:cubicBezTo>
                  <a:pt x="13" y="78"/>
                  <a:pt x="21" y="61"/>
                  <a:pt x="31" y="46"/>
                </a:cubicBezTo>
                <a:cubicBezTo>
                  <a:pt x="41" y="31"/>
                  <a:pt x="52" y="20"/>
                  <a:pt x="65" y="12"/>
                </a:cubicBezTo>
                <a:cubicBezTo>
                  <a:pt x="78" y="4"/>
                  <a:pt x="91" y="0"/>
                  <a:pt x="105" y="0"/>
                </a:cubicBezTo>
                <a:lnTo>
                  <a:pt x="14447" y="0"/>
                </a:lnTo>
                <a:cubicBezTo>
                  <a:pt x="14457" y="0"/>
                  <a:pt x="14468" y="1"/>
                  <a:pt x="14478" y="3"/>
                </a:cubicBezTo>
                <a:cubicBezTo>
                  <a:pt x="14488" y="5"/>
                  <a:pt x="14498" y="8"/>
                  <a:pt x="14508" y="12"/>
                </a:cubicBezTo>
                <a:cubicBezTo>
                  <a:pt x="14517" y="16"/>
                  <a:pt x="14526" y="21"/>
                  <a:pt x="14535" y="27"/>
                </a:cubicBezTo>
                <a:cubicBezTo>
                  <a:pt x="14544" y="32"/>
                  <a:pt x="14552" y="39"/>
                  <a:pt x="14559" y="46"/>
                </a:cubicBezTo>
                <a:cubicBezTo>
                  <a:pt x="14566" y="54"/>
                  <a:pt x="14573" y="62"/>
                  <a:pt x="14579" y="70"/>
                </a:cubicBezTo>
                <a:cubicBezTo>
                  <a:pt x="14585" y="79"/>
                  <a:pt x="14590" y="88"/>
                  <a:pt x="14594" y="98"/>
                </a:cubicBezTo>
                <a:cubicBezTo>
                  <a:pt x="14598" y="107"/>
                  <a:pt x="14601" y="117"/>
                  <a:pt x="14603" y="128"/>
                </a:cubicBezTo>
                <a:cubicBezTo>
                  <a:pt x="14605" y="138"/>
                  <a:pt x="14606" y="148"/>
                  <a:pt x="14606" y="159"/>
                </a:cubicBezTo>
                <a:lnTo>
                  <a:pt x="14606" y="5001"/>
                </a:lnTo>
                <a:cubicBezTo>
                  <a:pt x="14606" y="5012"/>
                  <a:pt x="14605" y="5022"/>
                  <a:pt x="14603" y="5032"/>
                </a:cubicBezTo>
                <a:cubicBezTo>
                  <a:pt x="14601" y="5043"/>
                  <a:pt x="14598" y="5053"/>
                  <a:pt x="14594" y="5062"/>
                </a:cubicBezTo>
                <a:cubicBezTo>
                  <a:pt x="14590" y="5072"/>
                  <a:pt x="14585" y="5081"/>
                  <a:pt x="14579" y="5090"/>
                </a:cubicBezTo>
                <a:cubicBezTo>
                  <a:pt x="14573" y="5098"/>
                  <a:pt x="14566" y="5106"/>
                  <a:pt x="14559" y="5114"/>
                </a:cubicBezTo>
                <a:cubicBezTo>
                  <a:pt x="14552" y="5121"/>
                  <a:pt x="14544" y="5128"/>
                  <a:pt x="14535" y="5133"/>
                </a:cubicBezTo>
                <a:cubicBezTo>
                  <a:pt x="14526" y="5139"/>
                  <a:pt x="14517" y="5144"/>
                  <a:pt x="14508" y="5148"/>
                </a:cubicBezTo>
                <a:cubicBezTo>
                  <a:pt x="14498" y="5152"/>
                  <a:pt x="14488" y="5155"/>
                  <a:pt x="14478" y="5157"/>
                </a:cubicBezTo>
                <a:cubicBezTo>
                  <a:pt x="14468" y="5159"/>
                  <a:pt x="14457" y="5160"/>
                  <a:pt x="14447" y="5160"/>
                </a:cubicBezTo>
                <a:lnTo>
                  <a:pt x="105" y="5160"/>
                </a:lnTo>
                <a:cubicBezTo>
                  <a:pt x="91" y="5160"/>
                  <a:pt x="78" y="5156"/>
                  <a:pt x="65" y="5148"/>
                </a:cubicBezTo>
                <a:cubicBezTo>
                  <a:pt x="52" y="5140"/>
                  <a:pt x="41" y="5129"/>
                  <a:pt x="31" y="5114"/>
                </a:cubicBezTo>
                <a:cubicBezTo>
                  <a:pt x="21" y="5099"/>
                  <a:pt x="13" y="5082"/>
                  <a:pt x="8" y="5062"/>
                </a:cubicBezTo>
                <a:cubicBezTo>
                  <a:pt x="2" y="5043"/>
                  <a:pt x="0" y="5023"/>
                  <a:pt x="0" y="5001"/>
                </a:cubicBezTo>
                <a:close/>
              </a:path>
            </a:pathLst>
          </a:custGeom>
          <a:solidFill>
            <a:srgbClr val="EFF5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752400" y="1523880"/>
            <a:ext cx="57240" cy="1857600"/>
          </a:xfrm>
          <a:custGeom>
            <a:avLst/>
            <a:gdLst/>
            <a:ahLst/>
            <a:rect l="0" t="0" r="r" b="b"/>
            <a:pathLst>
              <a:path w="159" h="5160">
                <a:moveTo>
                  <a:pt x="0" y="0"/>
                </a:moveTo>
                <a:lnTo>
                  <a:pt x="159" y="0"/>
                </a:lnTo>
                <a:lnTo>
                  <a:pt x="159" y="5160"/>
                </a:lnTo>
                <a:lnTo>
                  <a:pt x="0" y="5160"/>
                </a:lnTo>
                <a:lnTo>
                  <a:pt x="0" y="0"/>
                </a:lnTo>
                <a:close/>
              </a:path>
            </a:pathLst>
          </a:custGeom>
          <a:solidFill>
            <a:srgbClr val="9FBF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3267000" y="1742760"/>
            <a:ext cx="285840" cy="172080"/>
          </a:xfrm>
          <a:custGeom>
            <a:avLst/>
            <a:gdLst/>
            <a:ahLst/>
            <a:rect l="0" t="0" r="r" b="b"/>
            <a:pathLst>
              <a:path w="794" h="478">
                <a:moveTo>
                  <a:pt x="239" y="478"/>
                </a:moveTo>
                <a:lnTo>
                  <a:pt x="0" y="239"/>
                </a:lnTo>
                <a:lnTo>
                  <a:pt x="239" y="0"/>
                </a:lnTo>
                <a:lnTo>
                  <a:pt x="295" y="57"/>
                </a:lnTo>
                <a:lnTo>
                  <a:pt x="113" y="240"/>
                </a:lnTo>
                <a:lnTo>
                  <a:pt x="294" y="422"/>
                </a:lnTo>
                <a:lnTo>
                  <a:pt x="239" y="478"/>
                </a:lnTo>
                <a:moveTo>
                  <a:pt x="556" y="478"/>
                </a:moveTo>
                <a:lnTo>
                  <a:pt x="500" y="421"/>
                </a:lnTo>
                <a:lnTo>
                  <a:pt x="682" y="239"/>
                </a:lnTo>
                <a:lnTo>
                  <a:pt x="501" y="56"/>
                </a:lnTo>
                <a:lnTo>
                  <a:pt x="556" y="0"/>
                </a:lnTo>
                <a:lnTo>
                  <a:pt x="794" y="239"/>
                </a:lnTo>
                <a:lnTo>
                  <a:pt x="556" y="478"/>
                </a:lnTo>
                <a:close/>
              </a:path>
            </a:pathLst>
          </a:custGeom>
          <a:solidFill>
            <a:srgbClr val="295A9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747720" y="797400"/>
            <a:ext cx="290016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1" u="none" strike="noStrike">
                <a:solidFill>
                  <a:srgbClr val="1F2328"/>
                </a:solidFill>
                <a:effectLst/>
                <a:uFillTx/>
                <a:latin typeface="NotoSans-Semi"/>
                <a:ea typeface="NotoSans-Semi"/>
              </a:rPr>
              <a:t>App-Architektur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2657160" y="2041200"/>
            <a:ext cx="1504440" cy="26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20" b="1" u="none" strike="noStrike">
                <a:solidFill>
                  <a:srgbClr val="295A97"/>
                </a:solidFill>
                <a:effectLst/>
                <a:uFillTx/>
                <a:latin typeface="NotoSans"/>
                <a:ea typeface="NotoSans"/>
              </a:rPr>
              <a:t>Daten aus JSON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976320" y="2357280"/>
            <a:ext cx="3287160" cy="25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295A97"/>
                </a:solidFill>
                <a:effectLst/>
                <a:uFillTx/>
                <a:latin typeface="NotoSansMath"/>
                <a:ea typeface="NotoSansMath"/>
              </a:rPr>
              <a:t>▸ </a:t>
            </a:r>
            <a:r>
              <a:rPr lang="en-US" sz="13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63 Kleidungsstücke aus JSON per HTTP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6181560" y="1523880"/>
            <a:ext cx="5267520" cy="1857600"/>
          </a:xfrm>
          <a:custGeom>
            <a:avLst/>
            <a:gdLst/>
            <a:ahLst/>
            <a:rect l="0" t="0" r="r" b="b"/>
            <a:pathLst>
              <a:path w="14632" h="5160">
                <a:moveTo>
                  <a:pt x="0" y="5001"/>
                </a:moveTo>
                <a:lnTo>
                  <a:pt x="0" y="159"/>
                </a:lnTo>
                <a:cubicBezTo>
                  <a:pt x="0" y="138"/>
                  <a:pt x="3" y="117"/>
                  <a:pt x="8" y="98"/>
                </a:cubicBezTo>
                <a:cubicBezTo>
                  <a:pt x="13" y="78"/>
                  <a:pt x="21" y="61"/>
                  <a:pt x="31" y="46"/>
                </a:cubicBezTo>
                <a:cubicBezTo>
                  <a:pt x="41" y="31"/>
                  <a:pt x="52" y="20"/>
                  <a:pt x="65" y="12"/>
                </a:cubicBezTo>
                <a:cubicBezTo>
                  <a:pt x="78" y="4"/>
                  <a:pt x="92" y="0"/>
                  <a:pt x="106" y="0"/>
                </a:cubicBezTo>
                <a:lnTo>
                  <a:pt x="14474" y="0"/>
                </a:lnTo>
                <a:cubicBezTo>
                  <a:pt x="14484" y="0"/>
                  <a:pt x="14494" y="1"/>
                  <a:pt x="14505" y="3"/>
                </a:cubicBezTo>
                <a:cubicBezTo>
                  <a:pt x="14515" y="5"/>
                  <a:pt x="14525" y="8"/>
                  <a:pt x="14534" y="12"/>
                </a:cubicBezTo>
                <a:cubicBezTo>
                  <a:pt x="14544" y="16"/>
                  <a:pt x="14553" y="21"/>
                  <a:pt x="14562" y="27"/>
                </a:cubicBezTo>
                <a:cubicBezTo>
                  <a:pt x="14571" y="32"/>
                  <a:pt x="14579" y="39"/>
                  <a:pt x="14586" y="46"/>
                </a:cubicBezTo>
                <a:cubicBezTo>
                  <a:pt x="14593" y="54"/>
                  <a:pt x="14600" y="62"/>
                  <a:pt x="14606" y="70"/>
                </a:cubicBezTo>
                <a:cubicBezTo>
                  <a:pt x="14611" y="79"/>
                  <a:pt x="14616" y="88"/>
                  <a:pt x="14620" y="98"/>
                </a:cubicBezTo>
                <a:cubicBezTo>
                  <a:pt x="14624" y="107"/>
                  <a:pt x="14627" y="117"/>
                  <a:pt x="14629" y="128"/>
                </a:cubicBezTo>
                <a:cubicBezTo>
                  <a:pt x="14631" y="138"/>
                  <a:pt x="14632" y="148"/>
                  <a:pt x="14632" y="159"/>
                </a:cubicBezTo>
                <a:lnTo>
                  <a:pt x="14632" y="5001"/>
                </a:lnTo>
                <a:cubicBezTo>
                  <a:pt x="14632" y="5012"/>
                  <a:pt x="14631" y="5022"/>
                  <a:pt x="14629" y="5032"/>
                </a:cubicBezTo>
                <a:cubicBezTo>
                  <a:pt x="14627" y="5043"/>
                  <a:pt x="14624" y="5053"/>
                  <a:pt x="14620" y="5062"/>
                </a:cubicBezTo>
                <a:cubicBezTo>
                  <a:pt x="14616" y="5072"/>
                  <a:pt x="14611" y="5081"/>
                  <a:pt x="14606" y="5090"/>
                </a:cubicBezTo>
                <a:cubicBezTo>
                  <a:pt x="14600" y="5098"/>
                  <a:pt x="14593" y="5106"/>
                  <a:pt x="14586" y="5114"/>
                </a:cubicBezTo>
                <a:cubicBezTo>
                  <a:pt x="14579" y="5121"/>
                  <a:pt x="14571" y="5128"/>
                  <a:pt x="14562" y="5133"/>
                </a:cubicBezTo>
                <a:cubicBezTo>
                  <a:pt x="14553" y="5139"/>
                  <a:pt x="14544" y="5144"/>
                  <a:pt x="14534" y="5148"/>
                </a:cubicBezTo>
                <a:cubicBezTo>
                  <a:pt x="14525" y="5152"/>
                  <a:pt x="14515" y="5155"/>
                  <a:pt x="14505" y="5157"/>
                </a:cubicBezTo>
                <a:cubicBezTo>
                  <a:pt x="14494" y="5159"/>
                  <a:pt x="14484" y="5160"/>
                  <a:pt x="14474" y="5160"/>
                </a:cubicBezTo>
                <a:lnTo>
                  <a:pt x="106" y="5160"/>
                </a:lnTo>
                <a:cubicBezTo>
                  <a:pt x="92" y="5160"/>
                  <a:pt x="78" y="5156"/>
                  <a:pt x="65" y="5148"/>
                </a:cubicBezTo>
                <a:cubicBezTo>
                  <a:pt x="52" y="5140"/>
                  <a:pt x="41" y="5129"/>
                  <a:pt x="31" y="5114"/>
                </a:cubicBezTo>
                <a:cubicBezTo>
                  <a:pt x="21" y="5099"/>
                  <a:pt x="13" y="5082"/>
                  <a:pt x="8" y="5062"/>
                </a:cubicBezTo>
                <a:cubicBezTo>
                  <a:pt x="3" y="5043"/>
                  <a:pt x="0" y="5023"/>
                  <a:pt x="0" y="5001"/>
                </a:cubicBezTo>
                <a:close/>
              </a:path>
            </a:pathLst>
          </a:custGeom>
          <a:solidFill>
            <a:srgbClr val="F5F5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6162480" y="1523880"/>
            <a:ext cx="57600" cy="1857600"/>
          </a:xfrm>
          <a:custGeom>
            <a:avLst/>
            <a:gdLst/>
            <a:ahLst/>
            <a:rect l="0" t="0" r="r" b="b"/>
            <a:pathLst>
              <a:path w="160" h="5160">
                <a:moveTo>
                  <a:pt x="0" y="0"/>
                </a:moveTo>
                <a:lnTo>
                  <a:pt x="160" y="0"/>
                </a:lnTo>
                <a:lnTo>
                  <a:pt x="160" y="5160"/>
                </a:lnTo>
                <a:lnTo>
                  <a:pt x="0" y="5160"/>
                </a:lnTo>
                <a:lnTo>
                  <a:pt x="0" y="0"/>
                </a:lnTo>
                <a:close/>
              </a:path>
            </a:pathLst>
          </a:custGeom>
          <a:solidFill>
            <a:srgbClr val="295A9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8691480" y="1699920"/>
            <a:ext cx="257400" cy="257760"/>
          </a:xfrm>
          <a:custGeom>
            <a:avLst/>
            <a:gdLst/>
            <a:ahLst/>
            <a:rect l="0" t="0" r="r" b="b"/>
            <a:pathLst>
              <a:path w="715" h="716">
                <a:moveTo>
                  <a:pt x="79" y="556"/>
                </a:moveTo>
                <a:lnTo>
                  <a:pt x="79" y="231"/>
                </a:lnTo>
                <a:cubicBezTo>
                  <a:pt x="56" y="223"/>
                  <a:pt x="37" y="209"/>
                  <a:pt x="22" y="188"/>
                </a:cubicBezTo>
                <a:cubicBezTo>
                  <a:pt x="7" y="168"/>
                  <a:pt x="0" y="145"/>
                  <a:pt x="0" y="119"/>
                </a:cubicBezTo>
                <a:cubicBezTo>
                  <a:pt x="0" y="86"/>
                  <a:pt x="11" y="58"/>
                  <a:pt x="34" y="35"/>
                </a:cubicBezTo>
                <a:cubicBezTo>
                  <a:pt x="58" y="12"/>
                  <a:pt x="86" y="0"/>
                  <a:pt x="119" y="0"/>
                </a:cubicBezTo>
                <a:cubicBezTo>
                  <a:pt x="152" y="0"/>
                  <a:pt x="180" y="12"/>
                  <a:pt x="203" y="35"/>
                </a:cubicBezTo>
                <a:cubicBezTo>
                  <a:pt x="226" y="58"/>
                  <a:pt x="238" y="86"/>
                  <a:pt x="238" y="119"/>
                </a:cubicBezTo>
                <a:cubicBezTo>
                  <a:pt x="238" y="145"/>
                  <a:pt x="230" y="168"/>
                  <a:pt x="216" y="188"/>
                </a:cubicBezTo>
                <a:cubicBezTo>
                  <a:pt x="201" y="209"/>
                  <a:pt x="182" y="223"/>
                  <a:pt x="158" y="231"/>
                </a:cubicBezTo>
                <a:lnTo>
                  <a:pt x="158" y="556"/>
                </a:lnTo>
                <a:cubicBezTo>
                  <a:pt x="158" y="578"/>
                  <a:pt x="166" y="596"/>
                  <a:pt x="182" y="612"/>
                </a:cubicBezTo>
                <a:cubicBezTo>
                  <a:pt x="197" y="628"/>
                  <a:pt x="216" y="636"/>
                  <a:pt x="238" y="636"/>
                </a:cubicBezTo>
                <a:cubicBezTo>
                  <a:pt x="260" y="636"/>
                  <a:pt x="278" y="628"/>
                  <a:pt x="294" y="612"/>
                </a:cubicBezTo>
                <a:cubicBezTo>
                  <a:pt x="310" y="597"/>
                  <a:pt x="317" y="578"/>
                  <a:pt x="317" y="556"/>
                </a:cubicBezTo>
                <a:lnTo>
                  <a:pt x="317" y="159"/>
                </a:lnTo>
                <a:cubicBezTo>
                  <a:pt x="317" y="115"/>
                  <a:pt x="333" y="78"/>
                  <a:pt x="364" y="47"/>
                </a:cubicBezTo>
                <a:cubicBezTo>
                  <a:pt x="395" y="16"/>
                  <a:pt x="432" y="0"/>
                  <a:pt x="476" y="0"/>
                </a:cubicBezTo>
                <a:cubicBezTo>
                  <a:pt x="521" y="0"/>
                  <a:pt x="558" y="16"/>
                  <a:pt x="589" y="47"/>
                </a:cubicBezTo>
                <a:cubicBezTo>
                  <a:pt x="620" y="78"/>
                  <a:pt x="636" y="115"/>
                  <a:pt x="636" y="159"/>
                </a:cubicBezTo>
                <a:lnTo>
                  <a:pt x="636" y="484"/>
                </a:lnTo>
                <a:cubicBezTo>
                  <a:pt x="659" y="492"/>
                  <a:pt x="678" y="506"/>
                  <a:pt x="693" y="527"/>
                </a:cubicBezTo>
                <a:cubicBezTo>
                  <a:pt x="708" y="547"/>
                  <a:pt x="715" y="570"/>
                  <a:pt x="715" y="596"/>
                </a:cubicBezTo>
                <a:cubicBezTo>
                  <a:pt x="715" y="629"/>
                  <a:pt x="704" y="658"/>
                  <a:pt x="680" y="681"/>
                </a:cubicBezTo>
                <a:cubicBezTo>
                  <a:pt x="657" y="704"/>
                  <a:pt x="629" y="716"/>
                  <a:pt x="596" y="716"/>
                </a:cubicBezTo>
                <a:cubicBezTo>
                  <a:pt x="563" y="716"/>
                  <a:pt x="535" y="704"/>
                  <a:pt x="512" y="681"/>
                </a:cubicBezTo>
                <a:cubicBezTo>
                  <a:pt x="488" y="658"/>
                  <a:pt x="476" y="629"/>
                  <a:pt x="476" y="596"/>
                </a:cubicBezTo>
                <a:cubicBezTo>
                  <a:pt x="476" y="570"/>
                  <a:pt x="483" y="547"/>
                  <a:pt x="499" y="526"/>
                </a:cubicBezTo>
                <a:cubicBezTo>
                  <a:pt x="514" y="506"/>
                  <a:pt x="533" y="491"/>
                  <a:pt x="556" y="484"/>
                </a:cubicBezTo>
                <a:lnTo>
                  <a:pt x="556" y="159"/>
                </a:lnTo>
                <a:cubicBezTo>
                  <a:pt x="556" y="137"/>
                  <a:pt x="549" y="119"/>
                  <a:pt x="533" y="103"/>
                </a:cubicBezTo>
                <a:cubicBezTo>
                  <a:pt x="518" y="87"/>
                  <a:pt x="499" y="80"/>
                  <a:pt x="476" y="80"/>
                </a:cubicBezTo>
                <a:cubicBezTo>
                  <a:pt x="454" y="80"/>
                  <a:pt x="435" y="87"/>
                  <a:pt x="420" y="103"/>
                </a:cubicBezTo>
                <a:cubicBezTo>
                  <a:pt x="404" y="119"/>
                  <a:pt x="397" y="137"/>
                  <a:pt x="397" y="159"/>
                </a:cubicBezTo>
                <a:lnTo>
                  <a:pt x="397" y="556"/>
                </a:lnTo>
                <a:cubicBezTo>
                  <a:pt x="397" y="600"/>
                  <a:pt x="381" y="638"/>
                  <a:pt x="350" y="669"/>
                </a:cubicBezTo>
                <a:cubicBezTo>
                  <a:pt x="319" y="700"/>
                  <a:pt x="282" y="716"/>
                  <a:pt x="238" y="716"/>
                </a:cubicBezTo>
                <a:cubicBezTo>
                  <a:pt x="194" y="716"/>
                  <a:pt x="157" y="700"/>
                  <a:pt x="126" y="669"/>
                </a:cubicBezTo>
                <a:cubicBezTo>
                  <a:pt x="95" y="638"/>
                  <a:pt x="79" y="600"/>
                  <a:pt x="79" y="556"/>
                </a:cubicBezTo>
                <a:close/>
              </a:path>
            </a:pathLst>
          </a:custGeom>
          <a:solidFill>
            <a:srgbClr val="295A9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976320" y="2671560"/>
            <a:ext cx="3916800" cy="25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295A97"/>
                </a:solidFill>
                <a:effectLst/>
                <a:uFillTx/>
                <a:latin typeface="NotoSansMath"/>
                <a:ea typeface="NotoSansMath"/>
              </a:rPr>
              <a:t>▸ </a:t>
            </a:r>
            <a:r>
              <a:rPr lang="en-US" sz="13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Wechsel zwischen Main- und Sommer-Schrank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7697160" y="2041200"/>
            <a:ext cx="2255760" cy="26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20" b="1" u="none" strike="noStrike">
                <a:solidFill>
                  <a:srgbClr val="295A97"/>
                </a:solidFill>
                <a:effectLst/>
                <a:uFillTx/>
                <a:latin typeface="NotoSans"/>
                <a:ea typeface="NotoSans"/>
              </a:rPr>
              <a:t>Hash-basiertes Routing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6391440" y="2357280"/>
            <a:ext cx="3086280" cy="25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295A97"/>
                </a:solidFill>
                <a:effectLst/>
                <a:uFillTx/>
                <a:latin typeface="NotoSansMath"/>
                <a:ea typeface="NotoSansMath"/>
              </a:rPr>
              <a:t>▸ </a:t>
            </a:r>
            <a:r>
              <a:rPr lang="en-US" sz="13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Home, Closet, About via #-Fragment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6391440" y="2671560"/>
            <a:ext cx="2032560" cy="25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295A97"/>
                </a:solidFill>
                <a:effectLst/>
                <a:uFillTx/>
                <a:latin typeface="NotoSansMath"/>
                <a:ea typeface="NotoSansMath"/>
              </a:rPr>
              <a:t>▸ </a:t>
            </a:r>
            <a:r>
              <a:rPr lang="en-US" sz="13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Vor-/Zurück-Navigation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771480" y="3514680"/>
            <a:ext cx="5258160" cy="1848240"/>
          </a:xfrm>
          <a:custGeom>
            <a:avLst/>
            <a:gdLst/>
            <a:ahLst/>
            <a:rect l="0" t="0" r="r" b="b"/>
            <a:pathLst>
              <a:path w="14606" h="5134">
                <a:moveTo>
                  <a:pt x="0" y="4975"/>
                </a:moveTo>
                <a:lnTo>
                  <a:pt x="0" y="158"/>
                </a:lnTo>
                <a:cubicBezTo>
                  <a:pt x="0" y="137"/>
                  <a:pt x="2" y="117"/>
                  <a:pt x="8" y="98"/>
                </a:cubicBezTo>
                <a:cubicBezTo>
                  <a:pt x="13" y="78"/>
                  <a:pt x="21" y="61"/>
                  <a:pt x="31" y="46"/>
                </a:cubicBezTo>
                <a:cubicBezTo>
                  <a:pt x="41" y="31"/>
                  <a:pt x="52" y="20"/>
                  <a:pt x="65" y="12"/>
                </a:cubicBezTo>
                <a:cubicBezTo>
                  <a:pt x="78" y="4"/>
                  <a:pt x="91" y="0"/>
                  <a:pt x="105" y="0"/>
                </a:cubicBezTo>
                <a:lnTo>
                  <a:pt x="14447" y="0"/>
                </a:lnTo>
                <a:cubicBezTo>
                  <a:pt x="14457" y="0"/>
                  <a:pt x="14468" y="1"/>
                  <a:pt x="14478" y="3"/>
                </a:cubicBezTo>
                <a:cubicBezTo>
                  <a:pt x="14488" y="5"/>
                  <a:pt x="14498" y="8"/>
                  <a:pt x="14508" y="12"/>
                </a:cubicBezTo>
                <a:cubicBezTo>
                  <a:pt x="14517" y="16"/>
                  <a:pt x="14526" y="21"/>
                  <a:pt x="14535" y="26"/>
                </a:cubicBezTo>
                <a:cubicBezTo>
                  <a:pt x="14544" y="32"/>
                  <a:pt x="14552" y="39"/>
                  <a:pt x="14559" y="46"/>
                </a:cubicBezTo>
                <a:cubicBezTo>
                  <a:pt x="14566" y="53"/>
                  <a:pt x="14573" y="62"/>
                  <a:pt x="14579" y="70"/>
                </a:cubicBezTo>
                <a:cubicBezTo>
                  <a:pt x="14585" y="79"/>
                  <a:pt x="14590" y="88"/>
                  <a:pt x="14594" y="98"/>
                </a:cubicBezTo>
                <a:cubicBezTo>
                  <a:pt x="14598" y="107"/>
                  <a:pt x="14601" y="117"/>
                  <a:pt x="14603" y="127"/>
                </a:cubicBezTo>
                <a:cubicBezTo>
                  <a:pt x="14605" y="138"/>
                  <a:pt x="14606" y="148"/>
                  <a:pt x="14606" y="158"/>
                </a:cubicBezTo>
                <a:lnTo>
                  <a:pt x="14606" y="4975"/>
                </a:lnTo>
                <a:cubicBezTo>
                  <a:pt x="14606" y="4985"/>
                  <a:pt x="14605" y="4996"/>
                  <a:pt x="14603" y="5006"/>
                </a:cubicBezTo>
                <a:cubicBezTo>
                  <a:pt x="14601" y="5016"/>
                  <a:pt x="14598" y="5026"/>
                  <a:pt x="14594" y="5036"/>
                </a:cubicBezTo>
                <a:cubicBezTo>
                  <a:pt x="14590" y="5045"/>
                  <a:pt x="14585" y="5054"/>
                  <a:pt x="14579" y="5063"/>
                </a:cubicBezTo>
                <a:cubicBezTo>
                  <a:pt x="14573" y="5072"/>
                  <a:pt x="14566" y="5080"/>
                  <a:pt x="14559" y="5087"/>
                </a:cubicBezTo>
                <a:cubicBezTo>
                  <a:pt x="14552" y="5094"/>
                  <a:pt x="14544" y="5101"/>
                  <a:pt x="14535" y="5107"/>
                </a:cubicBezTo>
                <a:cubicBezTo>
                  <a:pt x="14526" y="5113"/>
                  <a:pt x="14517" y="5117"/>
                  <a:pt x="14508" y="5121"/>
                </a:cubicBezTo>
                <a:cubicBezTo>
                  <a:pt x="14498" y="5125"/>
                  <a:pt x="14488" y="5128"/>
                  <a:pt x="14478" y="5130"/>
                </a:cubicBezTo>
                <a:cubicBezTo>
                  <a:pt x="14468" y="5133"/>
                  <a:pt x="14457" y="5134"/>
                  <a:pt x="14447" y="5134"/>
                </a:cubicBezTo>
                <a:lnTo>
                  <a:pt x="105" y="5134"/>
                </a:lnTo>
                <a:cubicBezTo>
                  <a:pt x="91" y="5134"/>
                  <a:pt x="78" y="5130"/>
                  <a:pt x="65" y="5121"/>
                </a:cubicBezTo>
                <a:cubicBezTo>
                  <a:pt x="52" y="5113"/>
                  <a:pt x="41" y="5102"/>
                  <a:pt x="31" y="5087"/>
                </a:cubicBezTo>
                <a:cubicBezTo>
                  <a:pt x="21" y="5072"/>
                  <a:pt x="13" y="5055"/>
                  <a:pt x="8" y="5036"/>
                </a:cubicBezTo>
                <a:cubicBezTo>
                  <a:pt x="2" y="5016"/>
                  <a:pt x="0" y="4996"/>
                  <a:pt x="0" y="4975"/>
                </a:cubicBezTo>
                <a:close/>
              </a:path>
            </a:pathLst>
          </a:custGeom>
          <a:solidFill>
            <a:srgbClr val="EFF5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752400" y="3514680"/>
            <a:ext cx="57240" cy="1848240"/>
          </a:xfrm>
          <a:custGeom>
            <a:avLst/>
            <a:gdLst/>
            <a:ahLst/>
            <a:rect l="0" t="0" r="r" b="b"/>
            <a:pathLst>
              <a:path w="159" h="5134">
                <a:moveTo>
                  <a:pt x="0" y="0"/>
                </a:moveTo>
                <a:lnTo>
                  <a:pt x="159" y="0"/>
                </a:lnTo>
                <a:lnTo>
                  <a:pt x="159" y="5134"/>
                </a:lnTo>
                <a:lnTo>
                  <a:pt x="0" y="5134"/>
                </a:lnTo>
                <a:lnTo>
                  <a:pt x="0" y="0"/>
                </a:lnTo>
                <a:close/>
              </a:path>
            </a:pathLst>
          </a:custGeom>
          <a:solidFill>
            <a:srgbClr val="9FBF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3267000" y="3676320"/>
            <a:ext cx="285840" cy="286200"/>
          </a:xfrm>
          <a:custGeom>
            <a:avLst/>
            <a:gdLst/>
            <a:ahLst/>
            <a:rect l="0" t="0" r="r" b="b"/>
            <a:pathLst>
              <a:path w="794" h="795">
                <a:moveTo>
                  <a:pt x="358" y="0"/>
                </a:moveTo>
                <a:lnTo>
                  <a:pt x="358" y="83"/>
                </a:lnTo>
                <a:cubicBezTo>
                  <a:pt x="341" y="85"/>
                  <a:pt x="324" y="88"/>
                  <a:pt x="307" y="93"/>
                </a:cubicBezTo>
                <a:cubicBezTo>
                  <a:pt x="290" y="98"/>
                  <a:pt x="274" y="105"/>
                  <a:pt x="258" y="112"/>
                </a:cubicBezTo>
                <a:cubicBezTo>
                  <a:pt x="242" y="120"/>
                  <a:pt x="227" y="129"/>
                  <a:pt x="213" y="139"/>
                </a:cubicBezTo>
                <a:cubicBezTo>
                  <a:pt x="199" y="149"/>
                  <a:pt x="186" y="161"/>
                  <a:pt x="173" y="173"/>
                </a:cubicBezTo>
                <a:cubicBezTo>
                  <a:pt x="161" y="185"/>
                  <a:pt x="150" y="199"/>
                  <a:pt x="140" y="213"/>
                </a:cubicBezTo>
                <a:cubicBezTo>
                  <a:pt x="129" y="227"/>
                  <a:pt x="120" y="242"/>
                  <a:pt x="113" y="258"/>
                </a:cubicBezTo>
                <a:cubicBezTo>
                  <a:pt x="105" y="273"/>
                  <a:pt x="99" y="290"/>
                  <a:pt x="94" y="306"/>
                </a:cubicBezTo>
                <a:cubicBezTo>
                  <a:pt x="89" y="323"/>
                  <a:pt x="85" y="340"/>
                  <a:pt x="83" y="358"/>
                </a:cubicBezTo>
                <a:lnTo>
                  <a:pt x="0" y="358"/>
                </a:lnTo>
                <a:lnTo>
                  <a:pt x="0" y="437"/>
                </a:lnTo>
                <a:lnTo>
                  <a:pt x="83" y="437"/>
                </a:lnTo>
                <a:cubicBezTo>
                  <a:pt x="85" y="454"/>
                  <a:pt x="89" y="471"/>
                  <a:pt x="94" y="488"/>
                </a:cubicBezTo>
                <a:cubicBezTo>
                  <a:pt x="99" y="506"/>
                  <a:pt x="105" y="522"/>
                  <a:pt x="113" y="538"/>
                </a:cubicBezTo>
                <a:cubicBezTo>
                  <a:pt x="120" y="553"/>
                  <a:pt x="129" y="568"/>
                  <a:pt x="140" y="583"/>
                </a:cubicBezTo>
                <a:cubicBezTo>
                  <a:pt x="150" y="597"/>
                  <a:pt x="161" y="610"/>
                  <a:pt x="173" y="623"/>
                </a:cubicBezTo>
                <a:cubicBezTo>
                  <a:pt x="186" y="635"/>
                  <a:pt x="199" y="646"/>
                  <a:pt x="213" y="656"/>
                </a:cubicBezTo>
                <a:cubicBezTo>
                  <a:pt x="227" y="667"/>
                  <a:pt x="242" y="675"/>
                  <a:pt x="258" y="683"/>
                </a:cubicBezTo>
                <a:cubicBezTo>
                  <a:pt x="274" y="691"/>
                  <a:pt x="290" y="697"/>
                  <a:pt x="307" y="702"/>
                </a:cubicBezTo>
                <a:cubicBezTo>
                  <a:pt x="324" y="707"/>
                  <a:pt x="341" y="711"/>
                  <a:pt x="358" y="713"/>
                </a:cubicBezTo>
                <a:lnTo>
                  <a:pt x="358" y="795"/>
                </a:lnTo>
                <a:lnTo>
                  <a:pt x="437" y="795"/>
                </a:lnTo>
                <a:lnTo>
                  <a:pt x="437" y="713"/>
                </a:lnTo>
                <a:cubicBezTo>
                  <a:pt x="455" y="711"/>
                  <a:pt x="472" y="707"/>
                  <a:pt x="488" y="702"/>
                </a:cubicBezTo>
                <a:cubicBezTo>
                  <a:pt x="505" y="697"/>
                  <a:pt x="521" y="691"/>
                  <a:pt x="537" y="683"/>
                </a:cubicBezTo>
                <a:cubicBezTo>
                  <a:pt x="553" y="675"/>
                  <a:pt x="568" y="667"/>
                  <a:pt x="582" y="656"/>
                </a:cubicBezTo>
                <a:cubicBezTo>
                  <a:pt x="596" y="646"/>
                  <a:pt x="609" y="635"/>
                  <a:pt x="622" y="623"/>
                </a:cubicBezTo>
                <a:cubicBezTo>
                  <a:pt x="634" y="610"/>
                  <a:pt x="645" y="597"/>
                  <a:pt x="656" y="583"/>
                </a:cubicBezTo>
                <a:cubicBezTo>
                  <a:pt x="666" y="568"/>
                  <a:pt x="675" y="553"/>
                  <a:pt x="682" y="538"/>
                </a:cubicBezTo>
                <a:cubicBezTo>
                  <a:pt x="690" y="522"/>
                  <a:pt x="696" y="506"/>
                  <a:pt x="701" y="488"/>
                </a:cubicBezTo>
                <a:cubicBezTo>
                  <a:pt x="706" y="471"/>
                  <a:pt x="710" y="454"/>
                  <a:pt x="712" y="437"/>
                </a:cubicBezTo>
                <a:lnTo>
                  <a:pt x="794" y="437"/>
                </a:lnTo>
                <a:lnTo>
                  <a:pt x="794" y="358"/>
                </a:lnTo>
                <a:lnTo>
                  <a:pt x="712" y="358"/>
                </a:lnTo>
                <a:cubicBezTo>
                  <a:pt x="710" y="340"/>
                  <a:pt x="706" y="323"/>
                  <a:pt x="701" y="306"/>
                </a:cubicBezTo>
                <a:cubicBezTo>
                  <a:pt x="696" y="290"/>
                  <a:pt x="690" y="273"/>
                  <a:pt x="682" y="258"/>
                </a:cubicBezTo>
                <a:cubicBezTo>
                  <a:pt x="675" y="242"/>
                  <a:pt x="666" y="227"/>
                  <a:pt x="656" y="213"/>
                </a:cubicBezTo>
                <a:cubicBezTo>
                  <a:pt x="645" y="199"/>
                  <a:pt x="634" y="185"/>
                  <a:pt x="622" y="173"/>
                </a:cubicBezTo>
                <a:cubicBezTo>
                  <a:pt x="609" y="161"/>
                  <a:pt x="596" y="149"/>
                  <a:pt x="582" y="139"/>
                </a:cubicBezTo>
                <a:cubicBezTo>
                  <a:pt x="568" y="129"/>
                  <a:pt x="553" y="120"/>
                  <a:pt x="537" y="112"/>
                </a:cubicBezTo>
                <a:cubicBezTo>
                  <a:pt x="521" y="105"/>
                  <a:pt x="505" y="98"/>
                  <a:pt x="488" y="93"/>
                </a:cubicBezTo>
                <a:cubicBezTo>
                  <a:pt x="472" y="88"/>
                  <a:pt x="455" y="85"/>
                  <a:pt x="437" y="83"/>
                </a:cubicBezTo>
                <a:lnTo>
                  <a:pt x="437" y="0"/>
                </a:lnTo>
                <a:lnTo>
                  <a:pt x="358" y="0"/>
                </a:lnTo>
                <a:moveTo>
                  <a:pt x="358" y="239"/>
                </a:moveTo>
                <a:lnTo>
                  <a:pt x="437" y="239"/>
                </a:lnTo>
                <a:lnTo>
                  <a:pt x="437" y="163"/>
                </a:lnTo>
                <a:cubicBezTo>
                  <a:pt x="536" y="179"/>
                  <a:pt x="616" y="258"/>
                  <a:pt x="633" y="358"/>
                </a:cubicBezTo>
                <a:lnTo>
                  <a:pt x="556" y="358"/>
                </a:lnTo>
                <a:lnTo>
                  <a:pt x="556" y="437"/>
                </a:lnTo>
                <a:lnTo>
                  <a:pt x="632" y="437"/>
                </a:lnTo>
                <a:cubicBezTo>
                  <a:pt x="616" y="537"/>
                  <a:pt x="536" y="617"/>
                  <a:pt x="437" y="633"/>
                </a:cubicBezTo>
                <a:lnTo>
                  <a:pt x="437" y="557"/>
                </a:lnTo>
                <a:lnTo>
                  <a:pt x="358" y="557"/>
                </a:lnTo>
                <a:lnTo>
                  <a:pt x="358" y="633"/>
                </a:lnTo>
                <a:cubicBezTo>
                  <a:pt x="259" y="617"/>
                  <a:pt x="179" y="537"/>
                  <a:pt x="163" y="437"/>
                </a:cubicBezTo>
                <a:lnTo>
                  <a:pt x="239" y="437"/>
                </a:lnTo>
                <a:lnTo>
                  <a:pt x="239" y="358"/>
                </a:lnTo>
                <a:lnTo>
                  <a:pt x="163" y="358"/>
                </a:lnTo>
                <a:cubicBezTo>
                  <a:pt x="179" y="258"/>
                  <a:pt x="259" y="179"/>
                  <a:pt x="358" y="162"/>
                </a:cubicBezTo>
                <a:lnTo>
                  <a:pt x="358" y="239"/>
                </a:lnTo>
                <a:moveTo>
                  <a:pt x="382" y="361"/>
                </a:moveTo>
                <a:cubicBezTo>
                  <a:pt x="378" y="363"/>
                  <a:pt x="373" y="366"/>
                  <a:pt x="370" y="369"/>
                </a:cubicBezTo>
                <a:cubicBezTo>
                  <a:pt x="366" y="373"/>
                  <a:pt x="363" y="377"/>
                  <a:pt x="361" y="382"/>
                </a:cubicBezTo>
                <a:cubicBezTo>
                  <a:pt x="359" y="387"/>
                  <a:pt x="358" y="392"/>
                  <a:pt x="358" y="397"/>
                </a:cubicBezTo>
                <a:cubicBezTo>
                  <a:pt x="358" y="403"/>
                  <a:pt x="359" y="408"/>
                  <a:pt x="361" y="412"/>
                </a:cubicBezTo>
                <a:cubicBezTo>
                  <a:pt x="363" y="417"/>
                  <a:pt x="366" y="422"/>
                  <a:pt x="370" y="425"/>
                </a:cubicBezTo>
                <a:cubicBezTo>
                  <a:pt x="373" y="429"/>
                  <a:pt x="378" y="432"/>
                  <a:pt x="382" y="434"/>
                </a:cubicBezTo>
                <a:cubicBezTo>
                  <a:pt x="387" y="436"/>
                  <a:pt x="392" y="437"/>
                  <a:pt x="398" y="437"/>
                </a:cubicBezTo>
                <a:cubicBezTo>
                  <a:pt x="403" y="437"/>
                  <a:pt x="408" y="436"/>
                  <a:pt x="413" y="434"/>
                </a:cubicBezTo>
                <a:cubicBezTo>
                  <a:pt x="418" y="432"/>
                  <a:pt x="422" y="429"/>
                  <a:pt x="426" y="425"/>
                </a:cubicBezTo>
                <a:cubicBezTo>
                  <a:pt x="429" y="422"/>
                  <a:pt x="432" y="417"/>
                  <a:pt x="434" y="412"/>
                </a:cubicBezTo>
                <a:cubicBezTo>
                  <a:pt x="436" y="408"/>
                  <a:pt x="437" y="403"/>
                  <a:pt x="437" y="397"/>
                </a:cubicBezTo>
                <a:cubicBezTo>
                  <a:pt x="437" y="392"/>
                  <a:pt x="436" y="387"/>
                  <a:pt x="434" y="382"/>
                </a:cubicBezTo>
                <a:cubicBezTo>
                  <a:pt x="432" y="377"/>
                  <a:pt x="429" y="373"/>
                  <a:pt x="426" y="369"/>
                </a:cubicBezTo>
                <a:cubicBezTo>
                  <a:pt x="422" y="366"/>
                  <a:pt x="418" y="363"/>
                  <a:pt x="413" y="361"/>
                </a:cubicBezTo>
                <a:cubicBezTo>
                  <a:pt x="408" y="359"/>
                  <a:pt x="403" y="358"/>
                  <a:pt x="398" y="358"/>
                </a:cubicBezTo>
                <a:cubicBezTo>
                  <a:pt x="392" y="358"/>
                  <a:pt x="387" y="359"/>
                  <a:pt x="382" y="361"/>
                </a:cubicBezTo>
                <a:close/>
              </a:path>
            </a:pathLst>
          </a:custGeom>
          <a:solidFill>
            <a:srgbClr val="295A9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6391440" y="2985840"/>
            <a:ext cx="1638720" cy="25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295A97"/>
                </a:solidFill>
                <a:effectLst/>
                <a:uFillTx/>
                <a:latin typeface="NotoSansMath"/>
                <a:ea typeface="NotoSansMath"/>
              </a:rPr>
              <a:t>▸ </a:t>
            </a:r>
            <a:r>
              <a:rPr lang="en-US" sz="13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Serverunabhängig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2815920" y="4032000"/>
            <a:ext cx="1201320" cy="26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20" b="1" u="none" strike="noStrike">
                <a:solidFill>
                  <a:srgbClr val="295A97"/>
                </a:solidFill>
                <a:effectLst/>
                <a:uFillTx/>
                <a:latin typeface="NotoSans"/>
                <a:ea typeface="NotoSans"/>
              </a:rPr>
              <a:t>Filter &amp; Tags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976320" y="4338360"/>
            <a:ext cx="2473560" cy="25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295A97"/>
                </a:solidFill>
                <a:effectLst/>
                <a:uFillTx/>
                <a:latin typeface="NotoSansMath"/>
                <a:ea typeface="NotoSansMath"/>
              </a:rPr>
              <a:t>▸ </a:t>
            </a:r>
            <a:r>
              <a:rPr lang="en-US" sz="13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Dynamische Tag-Filter-Leiste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6181560" y="3514680"/>
            <a:ext cx="5267520" cy="1848240"/>
          </a:xfrm>
          <a:custGeom>
            <a:avLst/>
            <a:gdLst/>
            <a:ahLst/>
            <a:rect l="0" t="0" r="r" b="b"/>
            <a:pathLst>
              <a:path w="14632" h="5134">
                <a:moveTo>
                  <a:pt x="0" y="4975"/>
                </a:moveTo>
                <a:lnTo>
                  <a:pt x="0" y="158"/>
                </a:lnTo>
                <a:cubicBezTo>
                  <a:pt x="0" y="137"/>
                  <a:pt x="3" y="117"/>
                  <a:pt x="8" y="98"/>
                </a:cubicBezTo>
                <a:cubicBezTo>
                  <a:pt x="13" y="78"/>
                  <a:pt x="21" y="61"/>
                  <a:pt x="31" y="46"/>
                </a:cubicBezTo>
                <a:cubicBezTo>
                  <a:pt x="41" y="31"/>
                  <a:pt x="52" y="20"/>
                  <a:pt x="65" y="12"/>
                </a:cubicBezTo>
                <a:cubicBezTo>
                  <a:pt x="78" y="4"/>
                  <a:pt x="92" y="0"/>
                  <a:pt x="106" y="0"/>
                </a:cubicBezTo>
                <a:lnTo>
                  <a:pt x="14474" y="0"/>
                </a:lnTo>
                <a:cubicBezTo>
                  <a:pt x="14484" y="0"/>
                  <a:pt x="14494" y="1"/>
                  <a:pt x="14505" y="3"/>
                </a:cubicBezTo>
                <a:cubicBezTo>
                  <a:pt x="14515" y="5"/>
                  <a:pt x="14525" y="8"/>
                  <a:pt x="14534" y="12"/>
                </a:cubicBezTo>
                <a:cubicBezTo>
                  <a:pt x="14544" y="16"/>
                  <a:pt x="14553" y="21"/>
                  <a:pt x="14562" y="26"/>
                </a:cubicBezTo>
                <a:cubicBezTo>
                  <a:pt x="14571" y="32"/>
                  <a:pt x="14579" y="39"/>
                  <a:pt x="14586" y="46"/>
                </a:cubicBezTo>
                <a:cubicBezTo>
                  <a:pt x="14593" y="53"/>
                  <a:pt x="14600" y="62"/>
                  <a:pt x="14606" y="70"/>
                </a:cubicBezTo>
                <a:cubicBezTo>
                  <a:pt x="14611" y="79"/>
                  <a:pt x="14616" y="88"/>
                  <a:pt x="14620" y="98"/>
                </a:cubicBezTo>
                <a:cubicBezTo>
                  <a:pt x="14624" y="107"/>
                  <a:pt x="14627" y="117"/>
                  <a:pt x="14629" y="127"/>
                </a:cubicBezTo>
                <a:cubicBezTo>
                  <a:pt x="14631" y="138"/>
                  <a:pt x="14632" y="148"/>
                  <a:pt x="14632" y="158"/>
                </a:cubicBezTo>
                <a:lnTo>
                  <a:pt x="14632" y="4975"/>
                </a:lnTo>
                <a:cubicBezTo>
                  <a:pt x="14632" y="4985"/>
                  <a:pt x="14631" y="4996"/>
                  <a:pt x="14629" y="5006"/>
                </a:cubicBezTo>
                <a:cubicBezTo>
                  <a:pt x="14627" y="5016"/>
                  <a:pt x="14624" y="5026"/>
                  <a:pt x="14620" y="5036"/>
                </a:cubicBezTo>
                <a:cubicBezTo>
                  <a:pt x="14616" y="5045"/>
                  <a:pt x="14611" y="5054"/>
                  <a:pt x="14606" y="5063"/>
                </a:cubicBezTo>
                <a:cubicBezTo>
                  <a:pt x="14600" y="5072"/>
                  <a:pt x="14593" y="5080"/>
                  <a:pt x="14586" y="5087"/>
                </a:cubicBezTo>
                <a:cubicBezTo>
                  <a:pt x="14579" y="5094"/>
                  <a:pt x="14571" y="5101"/>
                  <a:pt x="14562" y="5107"/>
                </a:cubicBezTo>
                <a:cubicBezTo>
                  <a:pt x="14553" y="5113"/>
                  <a:pt x="14544" y="5117"/>
                  <a:pt x="14534" y="5121"/>
                </a:cubicBezTo>
                <a:cubicBezTo>
                  <a:pt x="14525" y="5125"/>
                  <a:pt x="14515" y="5128"/>
                  <a:pt x="14505" y="5130"/>
                </a:cubicBezTo>
                <a:cubicBezTo>
                  <a:pt x="14494" y="5133"/>
                  <a:pt x="14484" y="5134"/>
                  <a:pt x="14474" y="5134"/>
                </a:cubicBezTo>
                <a:lnTo>
                  <a:pt x="106" y="5134"/>
                </a:lnTo>
                <a:cubicBezTo>
                  <a:pt x="92" y="5134"/>
                  <a:pt x="78" y="5130"/>
                  <a:pt x="65" y="5121"/>
                </a:cubicBezTo>
                <a:cubicBezTo>
                  <a:pt x="52" y="5113"/>
                  <a:pt x="41" y="5102"/>
                  <a:pt x="31" y="5087"/>
                </a:cubicBezTo>
                <a:cubicBezTo>
                  <a:pt x="21" y="5072"/>
                  <a:pt x="13" y="5055"/>
                  <a:pt x="8" y="5036"/>
                </a:cubicBezTo>
                <a:cubicBezTo>
                  <a:pt x="3" y="5016"/>
                  <a:pt x="0" y="4996"/>
                  <a:pt x="0" y="4975"/>
                </a:cubicBezTo>
                <a:close/>
              </a:path>
            </a:pathLst>
          </a:custGeom>
          <a:solidFill>
            <a:srgbClr val="F5F5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6162480" y="3514680"/>
            <a:ext cx="57600" cy="1848240"/>
          </a:xfrm>
          <a:custGeom>
            <a:avLst/>
            <a:gdLst/>
            <a:ahLst/>
            <a:rect l="0" t="0" r="r" b="b"/>
            <a:pathLst>
              <a:path w="160" h="5134">
                <a:moveTo>
                  <a:pt x="0" y="0"/>
                </a:moveTo>
                <a:lnTo>
                  <a:pt x="160" y="0"/>
                </a:lnTo>
                <a:lnTo>
                  <a:pt x="160" y="5134"/>
                </a:lnTo>
                <a:lnTo>
                  <a:pt x="0" y="5134"/>
                </a:lnTo>
                <a:lnTo>
                  <a:pt x="0" y="0"/>
                </a:lnTo>
                <a:close/>
              </a:path>
            </a:pathLst>
          </a:custGeom>
          <a:solidFill>
            <a:srgbClr val="295A9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8677080" y="3662280"/>
            <a:ext cx="300240" cy="300240"/>
          </a:xfrm>
          <a:custGeom>
            <a:avLst/>
            <a:gdLst/>
            <a:ahLst/>
            <a:rect l="0" t="0" r="r" b="b"/>
            <a:pathLst>
              <a:path w="834" h="834">
                <a:moveTo>
                  <a:pt x="676" y="398"/>
                </a:moveTo>
                <a:lnTo>
                  <a:pt x="676" y="238"/>
                </a:lnTo>
                <a:cubicBezTo>
                  <a:pt x="676" y="227"/>
                  <a:pt x="674" y="217"/>
                  <a:pt x="670" y="207"/>
                </a:cubicBezTo>
                <a:cubicBezTo>
                  <a:pt x="666" y="198"/>
                  <a:pt x="660" y="189"/>
                  <a:pt x="652" y="182"/>
                </a:cubicBezTo>
                <a:cubicBezTo>
                  <a:pt x="645" y="174"/>
                  <a:pt x="636" y="169"/>
                  <a:pt x="627" y="165"/>
                </a:cubicBezTo>
                <a:cubicBezTo>
                  <a:pt x="617" y="160"/>
                  <a:pt x="607" y="158"/>
                  <a:pt x="596" y="158"/>
                </a:cubicBezTo>
                <a:lnTo>
                  <a:pt x="437" y="158"/>
                </a:lnTo>
                <a:lnTo>
                  <a:pt x="437" y="99"/>
                </a:lnTo>
                <a:cubicBezTo>
                  <a:pt x="437" y="86"/>
                  <a:pt x="434" y="73"/>
                  <a:pt x="429" y="61"/>
                </a:cubicBezTo>
                <a:cubicBezTo>
                  <a:pt x="424" y="49"/>
                  <a:pt x="417" y="38"/>
                  <a:pt x="408" y="29"/>
                </a:cubicBezTo>
                <a:cubicBezTo>
                  <a:pt x="398" y="19"/>
                  <a:pt x="388" y="12"/>
                  <a:pt x="375" y="7"/>
                </a:cubicBezTo>
                <a:cubicBezTo>
                  <a:pt x="363" y="2"/>
                  <a:pt x="351" y="0"/>
                  <a:pt x="337" y="0"/>
                </a:cubicBezTo>
                <a:cubicBezTo>
                  <a:pt x="324" y="0"/>
                  <a:pt x="312" y="2"/>
                  <a:pt x="299" y="7"/>
                </a:cubicBezTo>
                <a:cubicBezTo>
                  <a:pt x="287" y="12"/>
                  <a:pt x="277" y="19"/>
                  <a:pt x="267" y="29"/>
                </a:cubicBezTo>
                <a:cubicBezTo>
                  <a:pt x="258" y="38"/>
                  <a:pt x="251" y="49"/>
                  <a:pt x="246" y="61"/>
                </a:cubicBezTo>
                <a:cubicBezTo>
                  <a:pt x="241" y="73"/>
                  <a:pt x="238" y="86"/>
                  <a:pt x="238" y="99"/>
                </a:cubicBezTo>
                <a:lnTo>
                  <a:pt x="238" y="158"/>
                </a:lnTo>
                <a:lnTo>
                  <a:pt x="79" y="158"/>
                </a:lnTo>
                <a:cubicBezTo>
                  <a:pt x="69" y="158"/>
                  <a:pt x="59" y="160"/>
                  <a:pt x="49" y="165"/>
                </a:cubicBezTo>
                <a:cubicBezTo>
                  <a:pt x="39" y="169"/>
                  <a:pt x="31" y="174"/>
                  <a:pt x="23" y="182"/>
                </a:cubicBezTo>
                <a:cubicBezTo>
                  <a:pt x="16" y="189"/>
                  <a:pt x="10" y="198"/>
                  <a:pt x="6" y="207"/>
                </a:cubicBezTo>
                <a:cubicBezTo>
                  <a:pt x="2" y="217"/>
                  <a:pt x="0" y="227"/>
                  <a:pt x="0" y="238"/>
                </a:cubicBezTo>
                <a:lnTo>
                  <a:pt x="0" y="390"/>
                </a:lnTo>
                <a:lnTo>
                  <a:pt x="60" y="390"/>
                </a:lnTo>
                <a:cubicBezTo>
                  <a:pt x="119" y="390"/>
                  <a:pt x="167" y="437"/>
                  <a:pt x="167" y="497"/>
                </a:cubicBezTo>
                <a:cubicBezTo>
                  <a:pt x="167" y="556"/>
                  <a:pt x="119" y="604"/>
                  <a:pt x="60" y="604"/>
                </a:cubicBezTo>
                <a:lnTo>
                  <a:pt x="0" y="604"/>
                </a:lnTo>
                <a:lnTo>
                  <a:pt x="0" y="755"/>
                </a:lnTo>
                <a:cubicBezTo>
                  <a:pt x="0" y="765"/>
                  <a:pt x="2" y="775"/>
                  <a:pt x="6" y="785"/>
                </a:cubicBezTo>
                <a:cubicBezTo>
                  <a:pt x="10" y="795"/>
                  <a:pt x="16" y="803"/>
                  <a:pt x="23" y="811"/>
                </a:cubicBezTo>
                <a:cubicBezTo>
                  <a:pt x="31" y="818"/>
                  <a:pt x="39" y="824"/>
                  <a:pt x="49" y="828"/>
                </a:cubicBezTo>
                <a:cubicBezTo>
                  <a:pt x="59" y="832"/>
                  <a:pt x="69" y="834"/>
                  <a:pt x="79" y="834"/>
                </a:cubicBezTo>
                <a:lnTo>
                  <a:pt x="230" y="834"/>
                </a:lnTo>
                <a:lnTo>
                  <a:pt x="230" y="775"/>
                </a:lnTo>
                <a:cubicBezTo>
                  <a:pt x="230" y="715"/>
                  <a:pt x="278" y="667"/>
                  <a:pt x="337" y="667"/>
                </a:cubicBezTo>
                <a:cubicBezTo>
                  <a:pt x="397" y="667"/>
                  <a:pt x="445" y="715"/>
                  <a:pt x="445" y="775"/>
                </a:cubicBezTo>
                <a:lnTo>
                  <a:pt x="445" y="834"/>
                </a:lnTo>
                <a:lnTo>
                  <a:pt x="596" y="834"/>
                </a:lnTo>
                <a:cubicBezTo>
                  <a:pt x="607" y="834"/>
                  <a:pt x="617" y="832"/>
                  <a:pt x="627" y="828"/>
                </a:cubicBezTo>
                <a:cubicBezTo>
                  <a:pt x="636" y="824"/>
                  <a:pt x="645" y="818"/>
                  <a:pt x="652" y="811"/>
                </a:cubicBezTo>
                <a:cubicBezTo>
                  <a:pt x="660" y="803"/>
                  <a:pt x="666" y="795"/>
                  <a:pt x="670" y="785"/>
                </a:cubicBezTo>
                <a:cubicBezTo>
                  <a:pt x="674" y="775"/>
                  <a:pt x="676" y="765"/>
                  <a:pt x="676" y="755"/>
                </a:cubicBezTo>
                <a:lnTo>
                  <a:pt x="676" y="596"/>
                </a:lnTo>
                <a:lnTo>
                  <a:pt x="735" y="596"/>
                </a:lnTo>
                <a:cubicBezTo>
                  <a:pt x="748" y="596"/>
                  <a:pt x="761" y="594"/>
                  <a:pt x="773" y="588"/>
                </a:cubicBezTo>
                <a:cubicBezTo>
                  <a:pt x="785" y="583"/>
                  <a:pt x="796" y="576"/>
                  <a:pt x="805" y="567"/>
                </a:cubicBezTo>
                <a:cubicBezTo>
                  <a:pt x="815" y="558"/>
                  <a:pt x="822" y="547"/>
                  <a:pt x="827" y="535"/>
                </a:cubicBezTo>
                <a:cubicBezTo>
                  <a:pt x="832" y="523"/>
                  <a:pt x="834" y="510"/>
                  <a:pt x="834" y="497"/>
                </a:cubicBezTo>
                <a:cubicBezTo>
                  <a:pt x="834" y="484"/>
                  <a:pt x="832" y="471"/>
                  <a:pt x="827" y="459"/>
                </a:cubicBezTo>
                <a:cubicBezTo>
                  <a:pt x="822" y="447"/>
                  <a:pt x="815" y="436"/>
                  <a:pt x="805" y="427"/>
                </a:cubicBezTo>
                <a:cubicBezTo>
                  <a:pt x="796" y="417"/>
                  <a:pt x="785" y="410"/>
                  <a:pt x="773" y="405"/>
                </a:cubicBezTo>
                <a:cubicBezTo>
                  <a:pt x="761" y="400"/>
                  <a:pt x="748" y="398"/>
                  <a:pt x="735" y="398"/>
                </a:cubicBezTo>
                <a:lnTo>
                  <a:pt x="676" y="398"/>
                </a:lnTo>
                <a:close/>
              </a:path>
            </a:pathLst>
          </a:custGeom>
          <a:solidFill>
            <a:srgbClr val="295A9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976320" y="4652640"/>
            <a:ext cx="3465360" cy="25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295A97"/>
                </a:solidFill>
                <a:effectLst/>
                <a:uFillTx/>
                <a:latin typeface="NotoSansMath"/>
                <a:ea typeface="NotoSansMath"/>
              </a:rPr>
              <a:t>▸ </a:t>
            </a:r>
            <a:r>
              <a:rPr lang="en-US" sz="13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Outﬁt-URLs zum Teilen (#/closet/id1+id2)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8057520" y="4032000"/>
            <a:ext cx="1537200" cy="26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20" b="1" u="none" strike="noStrike">
                <a:solidFill>
                  <a:srgbClr val="295A97"/>
                </a:solidFill>
                <a:effectLst/>
                <a:uFillTx/>
                <a:latin typeface="NotoSans"/>
                <a:ea typeface="NotoSans"/>
              </a:rPr>
              <a:t>Elm-Architektur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6391440" y="4338360"/>
            <a:ext cx="2973240" cy="25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295A97"/>
                </a:solidFill>
                <a:effectLst/>
                <a:uFillTx/>
                <a:latin typeface="NotoSansMath"/>
                <a:ea typeface="NotoSansMath"/>
              </a:rPr>
              <a:t>▸ </a:t>
            </a:r>
            <a:r>
              <a:rPr lang="en-US" sz="13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Model/Update/View strikt getrennt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6391440" y="4652640"/>
            <a:ext cx="3027240" cy="25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295A97"/>
                </a:solidFill>
                <a:effectLst/>
                <a:uFillTx/>
                <a:latin typeface="NotoSansMath"/>
                <a:ea typeface="NotoSansMath"/>
              </a:rPr>
              <a:t>▸ </a:t>
            </a:r>
            <a:r>
              <a:rPr lang="en-US" sz="13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Interaktives SVG-Radar aus elm/svg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6391440" y="4976640"/>
            <a:ext cx="3328200" cy="25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295A97"/>
                </a:solidFill>
                <a:effectLst/>
                <a:uFillTx/>
                <a:latin typeface="NotoSansMath"/>
                <a:ea typeface="NotoSansMath"/>
              </a:rPr>
              <a:t>▸ </a:t>
            </a:r>
            <a:r>
              <a:rPr lang="en-US" sz="13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Live-Neuberechnung bei jeder Auswahl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1641600" y="5638320"/>
            <a:ext cx="232920" cy="257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40" b="0" u="none" strike="noStrike">
                <a:solidFill>
                  <a:srgbClr val="295A97"/>
                </a:solidFill>
                <a:effectLst/>
                <a:uFillTx/>
                <a:latin typeface="FreeSerif"/>
                <a:ea typeface="FreeSerif"/>
              </a:rPr>
              <a:t>⚙</a:t>
            </a:r>
            <a:endParaRPr lang="en-US" sz="1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2629440" y="5646960"/>
            <a:ext cx="8697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444444"/>
                </a:solidFill>
                <a:effectLst/>
                <a:uFillTx/>
                <a:latin typeface="NotoSans"/>
                <a:ea typeface="NotoSans"/>
              </a:rPr>
              <a:t>Elm 0.19.1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4295880" y="5646960"/>
            <a:ext cx="6717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444444"/>
                </a:solidFill>
                <a:effectLst/>
                <a:uFillTx/>
                <a:latin typeface="NotoSans"/>
                <a:ea typeface="NotoSans"/>
              </a:rPr>
              <a:t>elm/svg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5764320" y="5646960"/>
            <a:ext cx="9345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444444"/>
                </a:solidFill>
                <a:effectLst/>
                <a:uFillTx/>
                <a:latin typeface="NotoSans"/>
                <a:ea typeface="NotoSans"/>
              </a:rPr>
              <a:t>HTTP/JSON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7498800" y="5646960"/>
            <a:ext cx="110340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444444"/>
                </a:solidFill>
                <a:effectLst/>
                <a:uFillTx/>
                <a:latin typeface="NotoSans"/>
                <a:ea typeface="NotoSans"/>
              </a:rPr>
              <a:t>GitLab Pages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9398160" y="5646960"/>
            <a:ext cx="115488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444444"/>
                </a:solidFill>
                <a:effectLst/>
                <a:uFillTx/>
                <a:latin typeface="NotoSans"/>
                <a:ea typeface="NotoSans"/>
              </a:rPr>
              <a:t>Hash-Routing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285840" y="197640"/>
            <a:ext cx="2560320" cy="17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NotoSans"/>
                <a:ea typeface="NotoSans"/>
              </a:rPr>
              <a:t>Martin-Luther-Universität Halle-Wittenberg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285840" y="6465240"/>
            <a:ext cx="2998440" cy="17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NotoSans"/>
                <a:ea typeface="NotoSans"/>
              </a:rPr>
              <a:t>Grundlagen des WWW | SS-26 | Al-Shoumi &amp; Rana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8" name=""/>
          <p:cNvPicPr/>
          <p:nvPr/>
        </p:nvPicPr>
        <p:blipFill>
          <a:blip r:embed="rId1"/>
          <a:stretch/>
        </p:blipFill>
        <p:spPr>
          <a:xfrm>
            <a:off x="10858320" y="142920"/>
            <a:ext cx="952200" cy="51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771480" y="2171520"/>
            <a:ext cx="5258160" cy="3219840"/>
          </a:xfrm>
          <a:custGeom>
            <a:avLst/>
            <a:gdLst/>
            <a:ahLst/>
            <a:rect l="0" t="0" r="r" b="b"/>
            <a:pathLst>
              <a:path w="14606" h="8944">
                <a:moveTo>
                  <a:pt x="0" y="8785"/>
                </a:moveTo>
                <a:lnTo>
                  <a:pt x="0" y="159"/>
                </a:lnTo>
                <a:cubicBezTo>
                  <a:pt x="0" y="138"/>
                  <a:pt x="2" y="117"/>
                  <a:pt x="8" y="98"/>
                </a:cubicBezTo>
                <a:cubicBezTo>
                  <a:pt x="13" y="79"/>
                  <a:pt x="21" y="61"/>
                  <a:pt x="31" y="46"/>
                </a:cubicBezTo>
                <a:cubicBezTo>
                  <a:pt x="41" y="32"/>
                  <a:pt x="52" y="20"/>
                  <a:pt x="65" y="12"/>
                </a:cubicBezTo>
                <a:cubicBezTo>
                  <a:pt x="78" y="4"/>
                  <a:pt x="91" y="0"/>
                  <a:pt x="105" y="0"/>
                </a:cubicBezTo>
                <a:lnTo>
                  <a:pt x="14447" y="0"/>
                </a:lnTo>
                <a:cubicBezTo>
                  <a:pt x="14457" y="0"/>
                  <a:pt x="14468" y="1"/>
                  <a:pt x="14478" y="3"/>
                </a:cubicBezTo>
                <a:cubicBezTo>
                  <a:pt x="14488" y="5"/>
                  <a:pt x="14498" y="8"/>
                  <a:pt x="14508" y="12"/>
                </a:cubicBezTo>
                <a:cubicBezTo>
                  <a:pt x="14517" y="16"/>
                  <a:pt x="14526" y="21"/>
                  <a:pt x="14535" y="27"/>
                </a:cubicBezTo>
                <a:cubicBezTo>
                  <a:pt x="14544" y="33"/>
                  <a:pt x="14552" y="39"/>
                  <a:pt x="14559" y="46"/>
                </a:cubicBezTo>
                <a:cubicBezTo>
                  <a:pt x="14566" y="54"/>
                  <a:pt x="14573" y="62"/>
                  <a:pt x="14579" y="71"/>
                </a:cubicBezTo>
                <a:cubicBezTo>
                  <a:pt x="14585" y="79"/>
                  <a:pt x="14590" y="88"/>
                  <a:pt x="14594" y="98"/>
                </a:cubicBezTo>
                <a:cubicBezTo>
                  <a:pt x="14598" y="108"/>
                  <a:pt x="14601" y="118"/>
                  <a:pt x="14603" y="128"/>
                </a:cubicBezTo>
                <a:cubicBezTo>
                  <a:pt x="14605" y="138"/>
                  <a:pt x="14606" y="148"/>
                  <a:pt x="14606" y="159"/>
                </a:cubicBezTo>
                <a:lnTo>
                  <a:pt x="14606" y="8785"/>
                </a:lnTo>
                <a:cubicBezTo>
                  <a:pt x="14606" y="8796"/>
                  <a:pt x="14605" y="8806"/>
                  <a:pt x="14603" y="8816"/>
                </a:cubicBezTo>
                <a:cubicBezTo>
                  <a:pt x="14601" y="8826"/>
                  <a:pt x="14598" y="8836"/>
                  <a:pt x="14594" y="8846"/>
                </a:cubicBezTo>
                <a:cubicBezTo>
                  <a:pt x="14590" y="8856"/>
                  <a:pt x="14585" y="8865"/>
                  <a:pt x="14579" y="8873"/>
                </a:cubicBezTo>
                <a:cubicBezTo>
                  <a:pt x="14573" y="8882"/>
                  <a:pt x="14566" y="8890"/>
                  <a:pt x="14559" y="8897"/>
                </a:cubicBezTo>
                <a:cubicBezTo>
                  <a:pt x="14552" y="8905"/>
                  <a:pt x="14544" y="8911"/>
                  <a:pt x="14535" y="8917"/>
                </a:cubicBezTo>
                <a:cubicBezTo>
                  <a:pt x="14526" y="8923"/>
                  <a:pt x="14517" y="8928"/>
                  <a:pt x="14508" y="8932"/>
                </a:cubicBezTo>
                <a:cubicBezTo>
                  <a:pt x="14498" y="8936"/>
                  <a:pt x="14488" y="8939"/>
                  <a:pt x="14478" y="8941"/>
                </a:cubicBezTo>
                <a:cubicBezTo>
                  <a:pt x="14468" y="8943"/>
                  <a:pt x="14457" y="8944"/>
                  <a:pt x="14447" y="8944"/>
                </a:cubicBezTo>
                <a:lnTo>
                  <a:pt x="105" y="8944"/>
                </a:lnTo>
                <a:cubicBezTo>
                  <a:pt x="91" y="8944"/>
                  <a:pt x="78" y="8940"/>
                  <a:pt x="65" y="8932"/>
                </a:cubicBezTo>
                <a:cubicBezTo>
                  <a:pt x="52" y="8924"/>
                  <a:pt x="41" y="8912"/>
                  <a:pt x="31" y="8897"/>
                </a:cubicBezTo>
                <a:cubicBezTo>
                  <a:pt x="21" y="8883"/>
                  <a:pt x="13" y="8865"/>
                  <a:pt x="8" y="8846"/>
                </a:cubicBezTo>
                <a:cubicBezTo>
                  <a:pt x="2" y="8826"/>
                  <a:pt x="0" y="8806"/>
                  <a:pt x="0" y="8785"/>
                </a:cubicBezTo>
                <a:close/>
              </a:path>
            </a:pathLst>
          </a:custGeom>
          <a:solidFill>
            <a:srgbClr val="EFF5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752400" y="2171520"/>
            <a:ext cx="57240" cy="3219840"/>
          </a:xfrm>
          <a:custGeom>
            <a:avLst/>
            <a:gdLst/>
            <a:ahLst/>
            <a:rect l="0" t="0" r="r" b="b"/>
            <a:pathLst>
              <a:path w="159" h="8944">
                <a:moveTo>
                  <a:pt x="0" y="0"/>
                </a:moveTo>
                <a:lnTo>
                  <a:pt x="159" y="0"/>
                </a:lnTo>
                <a:lnTo>
                  <a:pt x="159" y="8944"/>
                </a:lnTo>
                <a:lnTo>
                  <a:pt x="0" y="8944"/>
                </a:lnTo>
                <a:lnTo>
                  <a:pt x="0" y="0"/>
                </a:lnTo>
                <a:close/>
              </a:path>
            </a:pathLst>
          </a:custGeom>
          <a:solidFill>
            <a:srgbClr val="9FBF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938160" y="2976480"/>
            <a:ext cx="4953240" cy="2124360"/>
          </a:xfrm>
          <a:custGeom>
            <a:avLst/>
            <a:gdLst/>
            <a:ahLst/>
            <a:rect l="0" t="0" r="r" b="b"/>
            <a:pathLst>
              <a:path w="13759" h="5901">
                <a:moveTo>
                  <a:pt x="0" y="5782"/>
                </a:moveTo>
                <a:lnTo>
                  <a:pt x="0" y="119"/>
                </a:lnTo>
                <a:cubicBezTo>
                  <a:pt x="0" y="103"/>
                  <a:pt x="2" y="88"/>
                  <a:pt x="7" y="73"/>
                </a:cubicBezTo>
                <a:cubicBezTo>
                  <a:pt x="11" y="59"/>
                  <a:pt x="18" y="46"/>
                  <a:pt x="27" y="35"/>
                </a:cubicBezTo>
                <a:cubicBezTo>
                  <a:pt x="35" y="23"/>
                  <a:pt x="45" y="15"/>
                  <a:pt x="57" y="9"/>
                </a:cubicBezTo>
                <a:cubicBezTo>
                  <a:pt x="68" y="3"/>
                  <a:pt x="80" y="0"/>
                  <a:pt x="92" y="0"/>
                </a:cubicBezTo>
                <a:lnTo>
                  <a:pt x="13640" y="0"/>
                </a:lnTo>
                <a:cubicBezTo>
                  <a:pt x="13656" y="0"/>
                  <a:pt x="13671" y="3"/>
                  <a:pt x="13685" y="9"/>
                </a:cubicBezTo>
                <a:cubicBezTo>
                  <a:pt x="13700" y="15"/>
                  <a:pt x="13713" y="23"/>
                  <a:pt x="13724" y="35"/>
                </a:cubicBezTo>
                <a:cubicBezTo>
                  <a:pt x="13735" y="46"/>
                  <a:pt x="13744" y="59"/>
                  <a:pt x="13750" y="73"/>
                </a:cubicBezTo>
                <a:cubicBezTo>
                  <a:pt x="13756" y="88"/>
                  <a:pt x="13759" y="103"/>
                  <a:pt x="13759" y="119"/>
                </a:cubicBezTo>
                <a:lnTo>
                  <a:pt x="13759" y="5782"/>
                </a:lnTo>
                <a:cubicBezTo>
                  <a:pt x="13759" y="5798"/>
                  <a:pt x="13756" y="5813"/>
                  <a:pt x="13750" y="5827"/>
                </a:cubicBezTo>
                <a:cubicBezTo>
                  <a:pt x="13744" y="5842"/>
                  <a:pt x="13735" y="5855"/>
                  <a:pt x="13724" y="5866"/>
                </a:cubicBezTo>
                <a:cubicBezTo>
                  <a:pt x="13713" y="5877"/>
                  <a:pt x="13700" y="5886"/>
                  <a:pt x="13685" y="5892"/>
                </a:cubicBezTo>
                <a:cubicBezTo>
                  <a:pt x="13671" y="5898"/>
                  <a:pt x="13656" y="5901"/>
                  <a:pt x="13640" y="5901"/>
                </a:cubicBezTo>
                <a:lnTo>
                  <a:pt x="92" y="5901"/>
                </a:lnTo>
                <a:cubicBezTo>
                  <a:pt x="80" y="5901"/>
                  <a:pt x="68" y="5898"/>
                  <a:pt x="57" y="5892"/>
                </a:cubicBezTo>
                <a:cubicBezTo>
                  <a:pt x="45" y="5886"/>
                  <a:pt x="35" y="5877"/>
                  <a:pt x="27" y="5866"/>
                </a:cubicBezTo>
                <a:cubicBezTo>
                  <a:pt x="18" y="5855"/>
                  <a:pt x="11" y="5842"/>
                  <a:pt x="7" y="5827"/>
                </a:cubicBezTo>
                <a:cubicBezTo>
                  <a:pt x="2" y="5813"/>
                  <a:pt x="0" y="5798"/>
                  <a:pt x="0" y="5782"/>
                </a:cubicBezTo>
                <a:close/>
              </a:path>
            </a:pathLst>
          </a:custGeom>
          <a:solidFill>
            <a:srgbClr val="F5F5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963000" y="2981160"/>
            <a:ext cx="4912920" cy="19440"/>
          </a:xfrm>
          <a:custGeom>
            <a:avLst/>
            <a:gdLst/>
            <a:ahLst/>
            <a:rect l="0" t="0" r="r" b="b"/>
            <a:pathLst>
              <a:path w="13647" h="54">
                <a:moveTo>
                  <a:pt x="13626" y="54"/>
                </a:moveTo>
                <a:lnTo>
                  <a:pt x="126" y="54"/>
                </a:lnTo>
                <a:lnTo>
                  <a:pt x="0" y="11"/>
                </a:lnTo>
                <a:cubicBezTo>
                  <a:pt x="7" y="4"/>
                  <a:pt x="15" y="0"/>
                  <a:pt x="23" y="0"/>
                </a:cubicBezTo>
                <a:lnTo>
                  <a:pt x="13571" y="0"/>
                </a:lnTo>
                <a:cubicBezTo>
                  <a:pt x="13600" y="0"/>
                  <a:pt x="13625" y="10"/>
                  <a:pt x="13646" y="32"/>
                </a:cubicBezTo>
                <a:lnTo>
                  <a:pt x="13647" y="33"/>
                </a:lnTo>
                <a:lnTo>
                  <a:pt x="13626" y="54"/>
                </a:lnTo>
                <a:close/>
              </a:path>
            </a:pathLst>
          </a:custGeom>
          <a:solidFill>
            <a:srgbClr val="DADD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963000" y="5076720"/>
            <a:ext cx="4912920" cy="19440"/>
          </a:xfrm>
          <a:custGeom>
            <a:avLst/>
            <a:gdLst/>
            <a:ahLst/>
            <a:rect l="0" t="0" r="r" b="b"/>
            <a:pathLst>
              <a:path w="13647" h="54">
                <a:moveTo>
                  <a:pt x="126" y="0"/>
                </a:moveTo>
                <a:lnTo>
                  <a:pt x="13626" y="0"/>
                </a:lnTo>
                <a:lnTo>
                  <a:pt x="13647" y="21"/>
                </a:lnTo>
                <a:cubicBezTo>
                  <a:pt x="13647" y="22"/>
                  <a:pt x="13646" y="22"/>
                  <a:pt x="13646" y="23"/>
                </a:cubicBezTo>
                <a:cubicBezTo>
                  <a:pt x="13625" y="43"/>
                  <a:pt x="13600" y="54"/>
                  <a:pt x="13571" y="54"/>
                </a:cubicBezTo>
                <a:lnTo>
                  <a:pt x="23" y="54"/>
                </a:lnTo>
                <a:cubicBezTo>
                  <a:pt x="15" y="54"/>
                  <a:pt x="7" y="50"/>
                  <a:pt x="0" y="43"/>
                </a:cubicBezTo>
                <a:lnTo>
                  <a:pt x="126" y="0"/>
                </a:lnTo>
                <a:close/>
              </a:path>
            </a:pathLst>
          </a:custGeom>
          <a:solidFill>
            <a:srgbClr val="DADD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5867280" y="2992320"/>
            <a:ext cx="19440" cy="2092680"/>
          </a:xfrm>
          <a:custGeom>
            <a:avLst/>
            <a:gdLst/>
            <a:ahLst/>
            <a:rect l="0" t="0" r="r" b="b"/>
            <a:pathLst>
              <a:path w="54" h="5813">
                <a:moveTo>
                  <a:pt x="0" y="5791"/>
                </a:moveTo>
                <a:lnTo>
                  <a:pt x="0" y="22"/>
                </a:lnTo>
                <a:lnTo>
                  <a:pt x="23" y="0"/>
                </a:lnTo>
                <a:cubicBezTo>
                  <a:pt x="43" y="21"/>
                  <a:pt x="54" y="46"/>
                  <a:pt x="54" y="75"/>
                </a:cubicBezTo>
                <a:lnTo>
                  <a:pt x="54" y="5738"/>
                </a:lnTo>
                <a:cubicBezTo>
                  <a:pt x="54" y="5767"/>
                  <a:pt x="43" y="5792"/>
                  <a:pt x="23" y="5813"/>
                </a:cubicBezTo>
                <a:lnTo>
                  <a:pt x="0" y="5791"/>
                </a:lnTo>
                <a:close/>
              </a:path>
            </a:pathLst>
          </a:custGeom>
          <a:solidFill>
            <a:srgbClr val="DADD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952200" y="2984760"/>
            <a:ext cx="16920" cy="2107800"/>
          </a:xfrm>
          <a:custGeom>
            <a:avLst/>
            <a:gdLst/>
            <a:ahLst/>
            <a:rect l="0" t="0" r="r" b="b"/>
            <a:pathLst>
              <a:path w="47" h="5855">
                <a:moveTo>
                  <a:pt x="47" y="5"/>
                </a:moveTo>
                <a:lnTo>
                  <a:pt x="47" y="5850"/>
                </a:lnTo>
                <a:lnTo>
                  <a:pt x="30" y="5855"/>
                </a:lnTo>
                <a:cubicBezTo>
                  <a:pt x="25" y="5850"/>
                  <a:pt x="20" y="5843"/>
                  <a:pt x="16" y="5834"/>
                </a:cubicBezTo>
                <a:cubicBezTo>
                  <a:pt x="5" y="5813"/>
                  <a:pt x="0" y="5788"/>
                  <a:pt x="0" y="5759"/>
                </a:cubicBezTo>
                <a:lnTo>
                  <a:pt x="0" y="96"/>
                </a:lnTo>
                <a:cubicBezTo>
                  <a:pt x="0" y="67"/>
                  <a:pt x="5" y="42"/>
                  <a:pt x="16" y="21"/>
                </a:cubicBezTo>
                <a:cubicBezTo>
                  <a:pt x="20" y="12"/>
                  <a:pt x="25" y="5"/>
                  <a:pt x="30" y="0"/>
                </a:cubicBezTo>
                <a:lnTo>
                  <a:pt x="47" y="5"/>
                </a:lnTo>
                <a:close/>
              </a:path>
            </a:pathLst>
          </a:custGeom>
          <a:solidFill>
            <a:srgbClr val="295A9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3282840" y="2381040"/>
            <a:ext cx="254160" cy="152640"/>
          </a:xfrm>
          <a:custGeom>
            <a:avLst/>
            <a:gdLst/>
            <a:ahLst/>
            <a:rect l="0" t="0" r="r" b="b"/>
            <a:pathLst>
              <a:path w="706" h="424">
                <a:moveTo>
                  <a:pt x="445" y="375"/>
                </a:moveTo>
                <a:lnTo>
                  <a:pt x="608" y="212"/>
                </a:lnTo>
                <a:lnTo>
                  <a:pt x="445" y="49"/>
                </a:lnTo>
                <a:lnTo>
                  <a:pt x="495" y="0"/>
                </a:lnTo>
                <a:lnTo>
                  <a:pt x="706" y="212"/>
                </a:lnTo>
                <a:lnTo>
                  <a:pt x="495" y="424"/>
                </a:lnTo>
                <a:lnTo>
                  <a:pt x="445" y="375"/>
                </a:lnTo>
                <a:moveTo>
                  <a:pt x="261" y="375"/>
                </a:moveTo>
                <a:lnTo>
                  <a:pt x="99" y="212"/>
                </a:lnTo>
                <a:lnTo>
                  <a:pt x="261" y="49"/>
                </a:lnTo>
                <a:lnTo>
                  <a:pt x="211" y="0"/>
                </a:lnTo>
                <a:lnTo>
                  <a:pt x="0" y="212"/>
                </a:lnTo>
                <a:lnTo>
                  <a:pt x="211" y="424"/>
                </a:lnTo>
                <a:lnTo>
                  <a:pt x="261" y="375"/>
                </a:lnTo>
                <a:close/>
              </a:path>
            </a:pathLst>
          </a:custGeom>
          <a:solidFill>
            <a:srgbClr val="295A9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747720" y="1445040"/>
            <a:ext cx="36068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1" u="none" strike="noStrike">
                <a:solidFill>
                  <a:srgbClr val="1F2328"/>
                </a:solidFill>
                <a:effectLst/>
                <a:uFillTx/>
                <a:latin typeface="NotoSans-Semi"/>
                <a:ea typeface="NotoSans-Semi"/>
              </a:rPr>
              <a:t>Daten &amp; Interaktion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2593440" y="2651040"/>
            <a:ext cx="1647360" cy="26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20" b="1" u="none" strike="noStrike">
                <a:solidFill>
                  <a:srgbClr val="295A97"/>
                </a:solidFill>
                <a:effectLst/>
                <a:uFillTx/>
                <a:latin typeface="NotoSans"/>
                <a:ea typeface="NotoSans"/>
              </a:rPr>
              <a:t>JSON &amp; Tag-Filter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1023840" y="3066480"/>
            <a:ext cx="305748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282828"/>
                </a:solidFill>
                <a:effectLst/>
                <a:uFillTx/>
                <a:latin typeface="Consolas"/>
                <a:ea typeface="Consolas"/>
              </a:rPr>
              <a:t>{ "id":"black-dress", "name":"Black Midi Dress",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1023840" y="3219120"/>
            <a:ext cx="235692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282828"/>
                </a:solidFill>
                <a:effectLst/>
                <a:uFillTx/>
                <a:latin typeface="Consolas"/>
                <a:ea typeface="Consolas"/>
              </a:rPr>
              <a:t>  "scoreStyle":85, "scoreComfort":40,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1023840" y="3371400"/>
            <a:ext cx="242064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282828"/>
                </a:solidFill>
                <a:effectLst/>
                <a:uFillTx/>
                <a:latin typeface="Consolas"/>
                <a:ea typeface="Consolas"/>
              </a:rPr>
              <a:t>  "scoreFormal":90, "scoreDurable":70,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1023840" y="3514320"/>
            <a:ext cx="254808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282828"/>
                </a:solidFill>
                <a:effectLst/>
                <a:uFillTx/>
                <a:latin typeface="Consolas"/>
                <a:ea typeface="Consolas"/>
              </a:rPr>
              <a:t>  "tags":["elegant","evening","black"] }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1023840" y="3666600"/>
            <a:ext cx="203832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282828"/>
                </a:solidFill>
                <a:effectLst/>
                <a:uFillTx/>
                <a:latin typeface="Consolas"/>
                <a:ea typeface="Consolas"/>
              </a:rPr>
              <a:t>filtered = List.filter (\item -&gt;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1023840" y="3971520"/>
            <a:ext cx="95580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282828"/>
                </a:solidFill>
                <a:effectLst/>
                <a:uFillTx/>
                <a:latin typeface="Consolas"/>
                <a:ea typeface="Consolas"/>
              </a:rPr>
              <a:t>List.any (\f -&gt;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1023840" y="4276440"/>
            <a:ext cx="152892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282828"/>
                </a:solidFill>
                <a:effectLst/>
                <a:uFillTx/>
                <a:latin typeface="Consolas"/>
                <a:ea typeface="Consolas"/>
              </a:rPr>
              <a:t>List.member f item.tags)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6181560" y="2171520"/>
            <a:ext cx="5267520" cy="3219840"/>
          </a:xfrm>
          <a:custGeom>
            <a:avLst/>
            <a:gdLst/>
            <a:ahLst/>
            <a:rect l="0" t="0" r="r" b="b"/>
            <a:pathLst>
              <a:path w="14632" h="8944">
                <a:moveTo>
                  <a:pt x="0" y="8785"/>
                </a:moveTo>
                <a:lnTo>
                  <a:pt x="0" y="159"/>
                </a:lnTo>
                <a:cubicBezTo>
                  <a:pt x="0" y="138"/>
                  <a:pt x="3" y="117"/>
                  <a:pt x="8" y="98"/>
                </a:cubicBezTo>
                <a:cubicBezTo>
                  <a:pt x="13" y="79"/>
                  <a:pt x="21" y="61"/>
                  <a:pt x="31" y="46"/>
                </a:cubicBezTo>
                <a:cubicBezTo>
                  <a:pt x="41" y="32"/>
                  <a:pt x="52" y="20"/>
                  <a:pt x="65" y="12"/>
                </a:cubicBezTo>
                <a:cubicBezTo>
                  <a:pt x="78" y="4"/>
                  <a:pt x="92" y="0"/>
                  <a:pt x="106" y="0"/>
                </a:cubicBezTo>
                <a:lnTo>
                  <a:pt x="14474" y="0"/>
                </a:lnTo>
                <a:cubicBezTo>
                  <a:pt x="14484" y="0"/>
                  <a:pt x="14494" y="1"/>
                  <a:pt x="14505" y="3"/>
                </a:cubicBezTo>
                <a:cubicBezTo>
                  <a:pt x="14515" y="5"/>
                  <a:pt x="14525" y="8"/>
                  <a:pt x="14534" y="12"/>
                </a:cubicBezTo>
                <a:cubicBezTo>
                  <a:pt x="14544" y="16"/>
                  <a:pt x="14553" y="21"/>
                  <a:pt x="14562" y="27"/>
                </a:cubicBezTo>
                <a:cubicBezTo>
                  <a:pt x="14571" y="33"/>
                  <a:pt x="14579" y="39"/>
                  <a:pt x="14586" y="46"/>
                </a:cubicBezTo>
                <a:cubicBezTo>
                  <a:pt x="14593" y="54"/>
                  <a:pt x="14600" y="62"/>
                  <a:pt x="14606" y="71"/>
                </a:cubicBezTo>
                <a:cubicBezTo>
                  <a:pt x="14611" y="79"/>
                  <a:pt x="14616" y="88"/>
                  <a:pt x="14620" y="98"/>
                </a:cubicBezTo>
                <a:cubicBezTo>
                  <a:pt x="14624" y="108"/>
                  <a:pt x="14627" y="118"/>
                  <a:pt x="14629" y="128"/>
                </a:cubicBezTo>
                <a:cubicBezTo>
                  <a:pt x="14631" y="138"/>
                  <a:pt x="14632" y="148"/>
                  <a:pt x="14632" y="159"/>
                </a:cubicBezTo>
                <a:lnTo>
                  <a:pt x="14632" y="8785"/>
                </a:lnTo>
                <a:cubicBezTo>
                  <a:pt x="14632" y="8796"/>
                  <a:pt x="14631" y="8806"/>
                  <a:pt x="14629" y="8816"/>
                </a:cubicBezTo>
                <a:cubicBezTo>
                  <a:pt x="14627" y="8826"/>
                  <a:pt x="14624" y="8836"/>
                  <a:pt x="14620" y="8846"/>
                </a:cubicBezTo>
                <a:cubicBezTo>
                  <a:pt x="14616" y="8856"/>
                  <a:pt x="14611" y="8865"/>
                  <a:pt x="14606" y="8873"/>
                </a:cubicBezTo>
                <a:cubicBezTo>
                  <a:pt x="14600" y="8882"/>
                  <a:pt x="14593" y="8890"/>
                  <a:pt x="14586" y="8897"/>
                </a:cubicBezTo>
                <a:cubicBezTo>
                  <a:pt x="14579" y="8905"/>
                  <a:pt x="14571" y="8911"/>
                  <a:pt x="14562" y="8917"/>
                </a:cubicBezTo>
                <a:cubicBezTo>
                  <a:pt x="14553" y="8923"/>
                  <a:pt x="14544" y="8928"/>
                  <a:pt x="14534" y="8932"/>
                </a:cubicBezTo>
                <a:cubicBezTo>
                  <a:pt x="14525" y="8936"/>
                  <a:pt x="14515" y="8939"/>
                  <a:pt x="14505" y="8941"/>
                </a:cubicBezTo>
                <a:cubicBezTo>
                  <a:pt x="14494" y="8943"/>
                  <a:pt x="14484" y="8944"/>
                  <a:pt x="14474" y="8944"/>
                </a:cubicBezTo>
                <a:lnTo>
                  <a:pt x="106" y="8944"/>
                </a:lnTo>
                <a:cubicBezTo>
                  <a:pt x="92" y="8944"/>
                  <a:pt x="78" y="8940"/>
                  <a:pt x="65" y="8932"/>
                </a:cubicBezTo>
                <a:cubicBezTo>
                  <a:pt x="52" y="8924"/>
                  <a:pt x="41" y="8912"/>
                  <a:pt x="31" y="8897"/>
                </a:cubicBezTo>
                <a:cubicBezTo>
                  <a:pt x="21" y="8883"/>
                  <a:pt x="13" y="8865"/>
                  <a:pt x="8" y="8846"/>
                </a:cubicBezTo>
                <a:cubicBezTo>
                  <a:pt x="3" y="8826"/>
                  <a:pt x="0" y="8806"/>
                  <a:pt x="0" y="8785"/>
                </a:cubicBezTo>
                <a:close/>
              </a:path>
            </a:pathLst>
          </a:custGeom>
          <a:solidFill>
            <a:srgbClr val="F5F5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6162480" y="2171520"/>
            <a:ext cx="57600" cy="3219840"/>
          </a:xfrm>
          <a:custGeom>
            <a:avLst/>
            <a:gdLst/>
            <a:ahLst/>
            <a:rect l="0" t="0" r="r" b="b"/>
            <a:pathLst>
              <a:path w="160" h="8944">
                <a:moveTo>
                  <a:pt x="0" y="0"/>
                </a:moveTo>
                <a:lnTo>
                  <a:pt x="160" y="0"/>
                </a:lnTo>
                <a:lnTo>
                  <a:pt x="160" y="8944"/>
                </a:lnTo>
                <a:lnTo>
                  <a:pt x="0" y="8944"/>
                </a:lnTo>
                <a:lnTo>
                  <a:pt x="0" y="0"/>
                </a:lnTo>
                <a:close/>
              </a:path>
            </a:pathLst>
          </a:custGeom>
          <a:solidFill>
            <a:srgbClr val="295A9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8718480" y="2330280"/>
            <a:ext cx="203400" cy="254520"/>
          </a:xfrm>
          <a:custGeom>
            <a:avLst/>
            <a:gdLst/>
            <a:ahLst/>
            <a:rect l="0" t="0" r="r" b="b"/>
            <a:pathLst>
              <a:path w="565" h="707">
                <a:moveTo>
                  <a:pt x="70" y="0"/>
                </a:moveTo>
                <a:cubicBezTo>
                  <a:pt x="61" y="0"/>
                  <a:pt x="52" y="2"/>
                  <a:pt x="43" y="5"/>
                </a:cubicBezTo>
                <a:cubicBezTo>
                  <a:pt x="35" y="9"/>
                  <a:pt x="27" y="14"/>
                  <a:pt x="20" y="21"/>
                </a:cubicBezTo>
                <a:cubicBezTo>
                  <a:pt x="14" y="27"/>
                  <a:pt x="9" y="35"/>
                  <a:pt x="5" y="44"/>
                </a:cubicBezTo>
                <a:cubicBezTo>
                  <a:pt x="1" y="52"/>
                  <a:pt x="0" y="61"/>
                  <a:pt x="0" y="71"/>
                </a:cubicBezTo>
                <a:lnTo>
                  <a:pt x="0" y="601"/>
                </a:lnTo>
                <a:cubicBezTo>
                  <a:pt x="0" y="640"/>
                  <a:pt x="31" y="671"/>
                  <a:pt x="70" y="671"/>
                </a:cubicBezTo>
                <a:lnTo>
                  <a:pt x="70" y="707"/>
                </a:lnTo>
                <a:lnTo>
                  <a:pt x="141" y="707"/>
                </a:lnTo>
                <a:lnTo>
                  <a:pt x="141" y="671"/>
                </a:lnTo>
                <a:lnTo>
                  <a:pt x="424" y="671"/>
                </a:lnTo>
                <a:lnTo>
                  <a:pt x="424" y="707"/>
                </a:lnTo>
                <a:lnTo>
                  <a:pt x="495" y="707"/>
                </a:lnTo>
                <a:lnTo>
                  <a:pt x="495" y="671"/>
                </a:lnTo>
                <a:cubicBezTo>
                  <a:pt x="534" y="671"/>
                  <a:pt x="565" y="640"/>
                  <a:pt x="565" y="601"/>
                </a:cubicBezTo>
                <a:lnTo>
                  <a:pt x="565" y="71"/>
                </a:lnTo>
                <a:cubicBezTo>
                  <a:pt x="565" y="61"/>
                  <a:pt x="563" y="52"/>
                  <a:pt x="560" y="44"/>
                </a:cubicBezTo>
                <a:cubicBezTo>
                  <a:pt x="556" y="35"/>
                  <a:pt x="551" y="27"/>
                  <a:pt x="544" y="21"/>
                </a:cubicBezTo>
                <a:cubicBezTo>
                  <a:pt x="538" y="14"/>
                  <a:pt x="530" y="9"/>
                  <a:pt x="522" y="5"/>
                </a:cubicBezTo>
                <a:cubicBezTo>
                  <a:pt x="513" y="2"/>
                  <a:pt x="504" y="0"/>
                  <a:pt x="495" y="0"/>
                </a:cubicBezTo>
                <a:lnTo>
                  <a:pt x="70" y="0"/>
                </a:lnTo>
                <a:moveTo>
                  <a:pt x="70" y="71"/>
                </a:moveTo>
                <a:lnTo>
                  <a:pt x="247" y="71"/>
                </a:lnTo>
                <a:lnTo>
                  <a:pt x="247" y="601"/>
                </a:lnTo>
                <a:lnTo>
                  <a:pt x="70" y="601"/>
                </a:lnTo>
                <a:lnTo>
                  <a:pt x="70" y="71"/>
                </a:lnTo>
                <a:moveTo>
                  <a:pt x="318" y="71"/>
                </a:moveTo>
                <a:lnTo>
                  <a:pt x="495" y="71"/>
                </a:lnTo>
                <a:lnTo>
                  <a:pt x="495" y="601"/>
                </a:lnTo>
                <a:lnTo>
                  <a:pt x="318" y="601"/>
                </a:lnTo>
                <a:lnTo>
                  <a:pt x="318" y="71"/>
                </a:lnTo>
                <a:moveTo>
                  <a:pt x="141" y="283"/>
                </a:moveTo>
                <a:lnTo>
                  <a:pt x="141" y="389"/>
                </a:lnTo>
                <a:lnTo>
                  <a:pt x="211" y="389"/>
                </a:lnTo>
                <a:lnTo>
                  <a:pt x="211" y="283"/>
                </a:lnTo>
                <a:lnTo>
                  <a:pt x="141" y="283"/>
                </a:lnTo>
                <a:moveTo>
                  <a:pt x="353" y="283"/>
                </a:moveTo>
                <a:lnTo>
                  <a:pt x="353" y="389"/>
                </a:lnTo>
                <a:lnTo>
                  <a:pt x="424" y="389"/>
                </a:lnTo>
                <a:lnTo>
                  <a:pt x="424" y="283"/>
                </a:lnTo>
                <a:lnTo>
                  <a:pt x="353" y="283"/>
                </a:lnTo>
                <a:close/>
              </a:path>
            </a:pathLst>
          </a:custGeom>
          <a:solidFill>
            <a:srgbClr val="295A9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1023840" y="4571640"/>
            <a:ext cx="127440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282828"/>
                </a:solidFill>
                <a:effectLst/>
                <a:uFillTx/>
                <a:latin typeface="Consolas"/>
                <a:ea typeface="Consolas"/>
              </a:rPr>
              <a:t>activeFilters) items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8063640" y="2651040"/>
            <a:ext cx="1521360" cy="26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20" b="1" u="none" strike="noStrike">
                <a:solidFill>
                  <a:srgbClr val="295A97"/>
                </a:solidFill>
                <a:effectLst/>
                <a:uFillTx/>
                <a:latin typeface="NotoSans"/>
                <a:ea typeface="NotoSans"/>
              </a:rPr>
              <a:t>Daten-Handling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6391080" y="3276360"/>
            <a:ext cx="962280" cy="181440"/>
          </a:xfrm>
          <a:custGeom>
            <a:avLst/>
            <a:gdLst/>
            <a:ahLst/>
            <a:rect l="0" t="0" r="r" b="b"/>
            <a:pathLst>
              <a:path w="2673" h="504">
                <a:moveTo>
                  <a:pt x="0" y="398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2567" y="0"/>
                </a:lnTo>
                <a:cubicBezTo>
                  <a:pt x="2582" y="0"/>
                  <a:pt x="2595" y="3"/>
                  <a:pt x="2608" y="8"/>
                </a:cubicBezTo>
                <a:cubicBezTo>
                  <a:pt x="2621" y="14"/>
                  <a:pt x="2632" y="21"/>
                  <a:pt x="2642" y="31"/>
                </a:cubicBezTo>
                <a:cubicBezTo>
                  <a:pt x="2652" y="41"/>
                  <a:pt x="2660" y="53"/>
                  <a:pt x="2665" y="65"/>
                </a:cubicBezTo>
                <a:cubicBezTo>
                  <a:pt x="2671" y="78"/>
                  <a:pt x="2673" y="92"/>
                  <a:pt x="2673" y="106"/>
                </a:cubicBezTo>
                <a:lnTo>
                  <a:pt x="2673" y="398"/>
                </a:lnTo>
                <a:cubicBezTo>
                  <a:pt x="2673" y="412"/>
                  <a:pt x="2671" y="426"/>
                  <a:pt x="2665" y="439"/>
                </a:cubicBezTo>
                <a:cubicBezTo>
                  <a:pt x="2660" y="452"/>
                  <a:pt x="2652" y="463"/>
                  <a:pt x="2642" y="473"/>
                </a:cubicBezTo>
                <a:cubicBezTo>
                  <a:pt x="2632" y="483"/>
                  <a:pt x="2621" y="490"/>
                  <a:pt x="2608" y="496"/>
                </a:cubicBezTo>
                <a:cubicBezTo>
                  <a:pt x="2595" y="501"/>
                  <a:pt x="2582" y="504"/>
                  <a:pt x="2567" y="504"/>
                </a:cubicBezTo>
                <a:lnTo>
                  <a:pt x="106" y="504"/>
                </a:lnTo>
                <a:cubicBezTo>
                  <a:pt x="92" y="504"/>
                  <a:pt x="78" y="501"/>
                  <a:pt x="65" y="496"/>
                </a:cubicBezTo>
                <a:cubicBezTo>
                  <a:pt x="52" y="490"/>
                  <a:pt x="41" y="483"/>
                  <a:pt x="31" y="473"/>
                </a:cubicBezTo>
                <a:cubicBezTo>
                  <a:pt x="21" y="463"/>
                  <a:pt x="13" y="452"/>
                  <a:pt x="8" y="439"/>
                </a:cubicBezTo>
                <a:cubicBezTo>
                  <a:pt x="3" y="426"/>
                  <a:pt x="0" y="412"/>
                  <a:pt x="0" y="398"/>
                </a:cubicBezTo>
                <a:close/>
              </a:path>
            </a:pathLst>
          </a:custGeom>
          <a:solidFill>
            <a:srgbClr val="EFF5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6391440" y="2985840"/>
            <a:ext cx="1742760" cy="25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295A97"/>
                </a:solidFill>
                <a:effectLst/>
                <a:uFillTx/>
                <a:latin typeface="NotoSansMath"/>
                <a:ea typeface="NotoSansMath"/>
              </a:rPr>
              <a:t>▸ </a:t>
            </a:r>
            <a:r>
              <a:rPr lang="en-US" sz="1370" b="1" u="none" strike="noStrike">
                <a:solidFill>
                  <a:srgbClr val="1F2328"/>
                </a:solidFill>
                <a:effectLst/>
                <a:uFillTx/>
                <a:latin typeface="NotoSans-Semi"/>
                <a:ea typeface="NotoSans-Semi"/>
              </a:rPr>
              <a:t>Zwei JSON-Dateien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6448320" y="3296520"/>
            <a:ext cx="84852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u="none" strike="noStrike">
                <a:solidFill>
                  <a:srgbClr val="295A97"/>
                </a:solidFill>
                <a:effectLst/>
                <a:uFillTx/>
                <a:latin typeface="Consolas"/>
                <a:ea typeface="Consolas"/>
              </a:rPr>
              <a:t>/items.json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7839000" y="3276360"/>
            <a:ext cx="1028880" cy="181440"/>
          </a:xfrm>
          <a:custGeom>
            <a:avLst/>
            <a:gdLst/>
            <a:ahLst/>
            <a:rect l="0" t="0" r="r" b="b"/>
            <a:pathLst>
              <a:path w="2858" h="504">
                <a:moveTo>
                  <a:pt x="0" y="398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2752" y="0"/>
                </a:lnTo>
                <a:cubicBezTo>
                  <a:pt x="2766" y="0"/>
                  <a:pt x="2780" y="3"/>
                  <a:pt x="2793" y="8"/>
                </a:cubicBezTo>
                <a:cubicBezTo>
                  <a:pt x="2806" y="14"/>
                  <a:pt x="2817" y="21"/>
                  <a:pt x="2827" y="31"/>
                </a:cubicBezTo>
                <a:cubicBezTo>
                  <a:pt x="2837" y="41"/>
                  <a:pt x="2845" y="53"/>
                  <a:pt x="2850" y="65"/>
                </a:cubicBezTo>
                <a:cubicBezTo>
                  <a:pt x="2856" y="78"/>
                  <a:pt x="2858" y="92"/>
                  <a:pt x="2858" y="106"/>
                </a:cubicBezTo>
                <a:lnTo>
                  <a:pt x="2858" y="398"/>
                </a:lnTo>
                <a:cubicBezTo>
                  <a:pt x="2858" y="412"/>
                  <a:pt x="2856" y="426"/>
                  <a:pt x="2850" y="439"/>
                </a:cubicBezTo>
                <a:cubicBezTo>
                  <a:pt x="2845" y="452"/>
                  <a:pt x="2837" y="463"/>
                  <a:pt x="2827" y="473"/>
                </a:cubicBezTo>
                <a:cubicBezTo>
                  <a:pt x="2817" y="483"/>
                  <a:pt x="2806" y="490"/>
                  <a:pt x="2793" y="496"/>
                </a:cubicBezTo>
                <a:cubicBezTo>
                  <a:pt x="2780" y="501"/>
                  <a:pt x="2766" y="504"/>
                  <a:pt x="2752" y="504"/>
                </a:cubicBezTo>
                <a:lnTo>
                  <a:pt x="106" y="504"/>
                </a:lnTo>
                <a:cubicBezTo>
                  <a:pt x="92" y="504"/>
                  <a:pt x="78" y="501"/>
                  <a:pt x="65" y="496"/>
                </a:cubicBezTo>
                <a:cubicBezTo>
                  <a:pt x="52" y="490"/>
                  <a:pt x="41" y="483"/>
                  <a:pt x="31" y="473"/>
                </a:cubicBezTo>
                <a:cubicBezTo>
                  <a:pt x="21" y="463"/>
                  <a:pt x="13" y="452"/>
                  <a:pt x="8" y="439"/>
                </a:cubicBezTo>
                <a:cubicBezTo>
                  <a:pt x="2" y="426"/>
                  <a:pt x="0" y="412"/>
                  <a:pt x="0" y="398"/>
                </a:cubicBezTo>
                <a:close/>
              </a:path>
            </a:pathLst>
          </a:custGeom>
          <a:solidFill>
            <a:srgbClr val="EFF5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7349760" y="3214440"/>
            <a:ext cx="48564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(63) · 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7892640" y="3296520"/>
            <a:ext cx="92592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u="none" strike="noStrike">
                <a:solidFill>
                  <a:srgbClr val="295A97"/>
                </a:solidFill>
                <a:effectLst/>
                <a:uFillTx/>
                <a:latin typeface="Consolas"/>
                <a:ea typeface="Consolas"/>
              </a:rPr>
              <a:t>/summer.json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8870760" y="3214440"/>
            <a:ext cx="34884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 (21)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6391440" y="3547800"/>
            <a:ext cx="1269360" cy="25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295A97"/>
                </a:solidFill>
                <a:effectLst/>
                <a:uFillTx/>
                <a:latin typeface="NotoSansMath"/>
                <a:ea typeface="NotoSansMath"/>
              </a:rPr>
              <a:t>▸ </a:t>
            </a:r>
            <a:r>
              <a:rPr lang="en-US" sz="1370" b="1" u="none" strike="noStrike">
                <a:solidFill>
                  <a:srgbClr val="1F2328"/>
                </a:solidFill>
                <a:effectLst/>
                <a:uFillTx/>
                <a:latin typeface="NotoSans-Semi"/>
                <a:ea typeface="NotoSans-Semi"/>
              </a:rPr>
              <a:t>HTTP-Ladung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6391440" y="3786120"/>
            <a:ext cx="404496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SwitchWardrobe lädt neue JSON + resetSelections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6391440" y="4100400"/>
            <a:ext cx="1905120" cy="25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295A97"/>
                </a:solidFill>
                <a:effectLst/>
                <a:uFillTx/>
                <a:latin typeface="NotoSansMath"/>
                <a:ea typeface="NotoSansMath"/>
              </a:rPr>
              <a:t>▸ </a:t>
            </a:r>
            <a:r>
              <a:rPr lang="en-US" sz="1370" b="1" u="none" strike="noStrike">
                <a:solidFill>
                  <a:srgbClr val="1F2328"/>
                </a:solidFill>
                <a:effectLst/>
                <a:uFillTx/>
                <a:latin typeface="NotoSans-Semi"/>
                <a:ea typeface="NotoSans-Semi"/>
              </a:rPr>
              <a:t>Typsicherer Decoder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6391440" y="4329000"/>
            <a:ext cx="373248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Decode.map7 wandelt JSON in WardrobeData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6391440" y="4652640"/>
            <a:ext cx="1630800" cy="25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295A97"/>
                </a:solidFill>
                <a:effectLst/>
                <a:uFillTx/>
                <a:latin typeface="NotoSansMath"/>
                <a:ea typeface="NotoSansMath"/>
              </a:rPr>
              <a:t>▸ </a:t>
            </a:r>
            <a:r>
              <a:rPr lang="en-US" sz="1370" b="1" u="none" strike="noStrike">
                <a:solidFill>
                  <a:srgbClr val="1F2328"/>
                </a:solidFill>
                <a:effectLst/>
                <a:uFillTx/>
                <a:latin typeface="NotoSans-Semi"/>
                <a:ea typeface="NotoSans-Semi"/>
              </a:rPr>
              <a:t>Dynamische Tags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6391440" y="4881240"/>
            <a:ext cx="367020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collectAllTags extrahiert Tags aus allen Items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285840" y="197640"/>
            <a:ext cx="2560320" cy="17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NotoSans"/>
                <a:ea typeface="NotoSans"/>
              </a:rPr>
              <a:t>Martin-Luther-Universität Halle-Wittenberg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285840" y="6465240"/>
            <a:ext cx="2998440" cy="17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NotoSans"/>
                <a:ea typeface="NotoSans"/>
              </a:rPr>
              <a:t>Grundlagen des WWW | SS-26 | Al-Shoumi &amp; Rana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0" name=""/>
          <p:cNvPicPr/>
          <p:nvPr/>
        </p:nvPicPr>
        <p:blipFill>
          <a:blip r:embed="rId1"/>
          <a:stretch/>
        </p:blipFill>
        <p:spPr>
          <a:xfrm>
            <a:off x="10858320" y="142920"/>
            <a:ext cx="952200" cy="51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"/>
          <p:cNvSpPr txBox="1"/>
          <p:nvPr/>
        </p:nvSpPr>
        <p:spPr>
          <a:xfrm>
            <a:off x="747720" y="987840"/>
            <a:ext cx="657972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1" u="none" strike="noStrike">
                <a:solidFill>
                  <a:srgbClr val="1F2328"/>
                </a:solidFill>
                <a:effectLst/>
                <a:uFillTx/>
                <a:latin typeface="NotoSans-Semi"/>
                <a:ea typeface="NotoSans-Semi"/>
              </a:rPr>
              <a:t>So funktioniert das Radar-Diagramm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747720" y="1713240"/>
            <a:ext cx="1046340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Ein Radar-Diagramm zeigt auf einen Blick, wie gut ein Outﬁt in verschiedenen Kategorien abschneidet - je großer die Fläche,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766440" y="2595240"/>
            <a:ext cx="5248800" cy="772200"/>
          </a:xfrm>
          <a:custGeom>
            <a:avLst/>
            <a:gdLst/>
            <a:ahLst/>
            <a:rect l="0" t="0" r="r" b="b"/>
            <a:pathLst>
              <a:path w="14580" h="2145">
                <a:moveTo>
                  <a:pt x="0" y="2025"/>
                </a:moveTo>
                <a:lnTo>
                  <a:pt x="0" y="119"/>
                </a:lnTo>
                <a:cubicBezTo>
                  <a:pt x="0" y="104"/>
                  <a:pt x="3" y="88"/>
                  <a:pt x="7" y="74"/>
                </a:cubicBezTo>
                <a:cubicBezTo>
                  <a:pt x="12" y="59"/>
                  <a:pt x="19" y="46"/>
                  <a:pt x="28" y="35"/>
                </a:cubicBezTo>
                <a:cubicBezTo>
                  <a:pt x="36" y="24"/>
                  <a:pt x="46" y="16"/>
                  <a:pt x="58" y="9"/>
                </a:cubicBezTo>
                <a:cubicBezTo>
                  <a:pt x="69" y="3"/>
                  <a:pt x="81" y="0"/>
                  <a:pt x="93" y="0"/>
                </a:cubicBezTo>
                <a:lnTo>
                  <a:pt x="14461" y="0"/>
                </a:lnTo>
                <a:cubicBezTo>
                  <a:pt x="14477" y="0"/>
                  <a:pt x="14492" y="3"/>
                  <a:pt x="14506" y="9"/>
                </a:cubicBezTo>
                <a:cubicBezTo>
                  <a:pt x="14521" y="16"/>
                  <a:pt x="14534" y="24"/>
                  <a:pt x="14545" y="35"/>
                </a:cubicBezTo>
                <a:cubicBezTo>
                  <a:pt x="14556" y="46"/>
                  <a:pt x="14565" y="59"/>
                  <a:pt x="14571" y="74"/>
                </a:cubicBezTo>
                <a:cubicBezTo>
                  <a:pt x="14577" y="88"/>
                  <a:pt x="14580" y="104"/>
                  <a:pt x="14580" y="119"/>
                </a:cubicBezTo>
                <a:lnTo>
                  <a:pt x="14580" y="2025"/>
                </a:lnTo>
                <a:cubicBezTo>
                  <a:pt x="14580" y="2041"/>
                  <a:pt x="14577" y="2056"/>
                  <a:pt x="14571" y="2071"/>
                </a:cubicBezTo>
                <a:cubicBezTo>
                  <a:pt x="14565" y="2086"/>
                  <a:pt x="14556" y="2098"/>
                  <a:pt x="14545" y="2110"/>
                </a:cubicBezTo>
                <a:cubicBezTo>
                  <a:pt x="14534" y="2121"/>
                  <a:pt x="14521" y="2129"/>
                  <a:pt x="14506" y="2135"/>
                </a:cubicBezTo>
                <a:cubicBezTo>
                  <a:pt x="14492" y="2141"/>
                  <a:pt x="14477" y="2145"/>
                  <a:pt x="14461" y="2145"/>
                </a:cubicBezTo>
                <a:lnTo>
                  <a:pt x="93" y="2145"/>
                </a:lnTo>
                <a:cubicBezTo>
                  <a:pt x="81" y="2145"/>
                  <a:pt x="69" y="2141"/>
                  <a:pt x="58" y="2135"/>
                </a:cubicBezTo>
                <a:cubicBezTo>
                  <a:pt x="46" y="2129"/>
                  <a:pt x="36" y="2121"/>
                  <a:pt x="28" y="2110"/>
                </a:cubicBezTo>
                <a:cubicBezTo>
                  <a:pt x="19" y="2098"/>
                  <a:pt x="12" y="2086"/>
                  <a:pt x="7" y="2071"/>
                </a:cubicBezTo>
                <a:cubicBezTo>
                  <a:pt x="3" y="2056"/>
                  <a:pt x="0" y="2041"/>
                  <a:pt x="0" y="2025"/>
                </a:cubicBezTo>
                <a:close/>
              </a:path>
            </a:pathLst>
          </a:custGeom>
          <a:solidFill>
            <a:srgbClr val="F5F5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791280" y="2600280"/>
            <a:ext cx="5208480" cy="19440"/>
          </a:xfrm>
          <a:custGeom>
            <a:avLst/>
            <a:gdLst/>
            <a:ahLst/>
            <a:rect l="0" t="0" r="r" b="b"/>
            <a:pathLst>
              <a:path w="14468" h="54">
                <a:moveTo>
                  <a:pt x="14447" y="54"/>
                </a:moveTo>
                <a:lnTo>
                  <a:pt x="127" y="54"/>
                </a:lnTo>
                <a:lnTo>
                  <a:pt x="0" y="10"/>
                </a:lnTo>
                <a:cubicBezTo>
                  <a:pt x="8" y="3"/>
                  <a:pt x="15" y="0"/>
                  <a:pt x="24" y="0"/>
                </a:cubicBezTo>
                <a:lnTo>
                  <a:pt x="14392" y="0"/>
                </a:lnTo>
                <a:cubicBezTo>
                  <a:pt x="14421" y="0"/>
                  <a:pt x="14446" y="10"/>
                  <a:pt x="14467" y="31"/>
                </a:cubicBezTo>
                <a:lnTo>
                  <a:pt x="14468" y="33"/>
                </a:lnTo>
                <a:lnTo>
                  <a:pt x="14447" y="54"/>
                </a:lnTo>
                <a:close/>
              </a:path>
            </a:pathLst>
          </a:custGeom>
          <a:solidFill>
            <a:srgbClr val="DADD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791280" y="3342960"/>
            <a:ext cx="5208480" cy="19440"/>
          </a:xfrm>
          <a:custGeom>
            <a:avLst/>
            <a:gdLst/>
            <a:ahLst/>
            <a:rect l="0" t="0" r="r" b="b"/>
            <a:pathLst>
              <a:path w="14468" h="54">
                <a:moveTo>
                  <a:pt x="127" y="0"/>
                </a:moveTo>
                <a:lnTo>
                  <a:pt x="14447" y="0"/>
                </a:lnTo>
                <a:lnTo>
                  <a:pt x="14468" y="21"/>
                </a:lnTo>
                <a:lnTo>
                  <a:pt x="14467" y="22"/>
                </a:lnTo>
                <a:cubicBezTo>
                  <a:pt x="14446" y="43"/>
                  <a:pt x="14421" y="54"/>
                  <a:pt x="14392" y="54"/>
                </a:cubicBezTo>
                <a:lnTo>
                  <a:pt x="24" y="54"/>
                </a:lnTo>
                <a:cubicBezTo>
                  <a:pt x="15" y="54"/>
                  <a:pt x="8" y="51"/>
                  <a:pt x="0" y="43"/>
                </a:cubicBezTo>
                <a:lnTo>
                  <a:pt x="127" y="0"/>
                </a:lnTo>
                <a:close/>
              </a:path>
            </a:pathLst>
          </a:custGeom>
          <a:solidFill>
            <a:srgbClr val="DADD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5991120" y="2611440"/>
            <a:ext cx="19440" cy="739800"/>
          </a:xfrm>
          <a:custGeom>
            <a:avLst/>
            <a:gdLst/>
            <a:ahLst/>
            <a:rect l="0" t="0" r="r" b="b"/>
            <a:pathLst>
              <a:path w="54" h="2055">
                <a:moveTo>
                  <a:pt x="0" y="2033"/>
                </a:moveTo>
                <a:lnTo>
                  <a:pt x="0" y="22"/>
                </a:lnTo>
                <a:lnTo>
                  <a:pt x="22" y="0"/>
                </a:lnTo>
                <a:cubicBezTo>
                  <a:pt x="43" y="20"/>
                  <a:pt x="54" y="45"/>
                  <a:pt x="54" y="74"/>
                </a:cubicBezTo>
                <a:lnTo>
                  <a:pt x="54" y="1979"/>
                </a:lnTo>
                <a:cubicBezTo>
                  <a:pt x="54" y="2010"/>
                  <a:pt x="43" y="2035"/>
                  <a:pt x="22" y="2055"/>
                </a:cubicBezTo>
                <a:lnTo>
                  <a:pt x="0" y="2033"/>
                </a:lnTo>
                <a:close/>
              </a:path>
            </a:pathLst>
          </a:custGeom>
          <a:solidFill>
            <a:srgbClr val="DADD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780840" y="2603880"/>
            <a:ext cx="16560" cy="754920"/>
          </a:xfrm>
          <a:custGeom>
            <a:avLst/>
            <a:gdLst/>
            <a:ahLst/>
            <a:rect l="0" t="0" r="r" b="b"/>
            <a:pathLst>
              <a:path w="46" h="2097">
                <a:moveTo>
                  <a:pt x="46" y="5"/>
                </a:moveTo>
                <a:lnTo>
                  <a:pt x="46" y="2092"/>
                </a:lnTo>
                <a:lnTo>
                  <a:pt x="31" y="2097"/>
                </a:lnTo>
                <a:cubicBezTo>
                  <a:pt x="26" y="2092"/>
                  <a:pt x="21" y="2085"/>
                  <a:pt x="17" y="2076"/>
                </a:cubicBezTo>
                <a:cubicBezTo>
                  <a:pt x="5" y="2056"/>
                  <a:pt x="0" y="2031"/>
                  <a:pt x="0" y="2001"/>
                </a:cubicBezTo>
                <a:lnTo>
                  <a:pt x="0" y="95"/>
                </a:lnTo>
                <a:cubicBezTo>
                  <a:pt x="0" y="66"/>
                  <a:pt x="5" y="41"/>
                  <a:pt x="17" y="21"/>
                </a:cubicBezTo>
                <a:cubicBezTo>
                  <a:pt x="21" y="12"/>
                  <a:pt x="26" y="5"/>
                  <a:pt x="31" y="0"/>
                </a:cubicBezTo>
                <a:lnTo>
                  <a:pt x="46" y="5"/>
                </a:lnTo>
                <a:close/>
              </a:path>
            </a:pathLst>
          </a:custGeom>
          <a:solidFill>
            <a:srgbClr val="295A9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766440" y="3747960"/>
            <a:ext cx="5248800" cy="2000520"/>
          </a:xfrm>
          <a:custGeom>
            <a:avLst/>
            <a:gdLst/>
            <a:ahLst/>
            <a:rect l="0" t="0" r="r" b="b"/>
            <a:pathLst>
              <a:path w="14580" h="5557">
                <a:moveTo>
                  <a:pt x="0" y="5438"/>
                </a:moveTo>
                <a:lnTo>
                  <a:pt x="0" y="119"/>
                </a:lnTo>
                <a:cubicBezTo>
                  <a:pt x="0" y="103"/>
                  <a:pt x="3" y="88"/>
                  <a:pt x="7" y="73"/>
                </a:cubicBezTo>
                <a:cubicBezTo>
                  <a:pt x="12" y="59"/>
                  <a:pt x="19" y="46"/>
                  <a:pt x="28" y="35"/>
                </a:cubicBezTo>
                <a:cubicBezTo>
                  <a:pt x="36" y="24"/>
                  <a:pt x="46" y="15"/>
                  <a:pt x="58" y="9"/>
                </a:cubicBezTo>
                <a:cubicBezTo>
                  <a:pt x="69" y="3"/>
                  <a:pt x="81" y="0"/>
                  <a:pt x="93" y="0"/>
                </a:cubicBezTo>
                <a:lnTo>
                  <a:pt x="14461" y="0"/>
                </a:lnTo>
                <a:cubicBezTo>
                  <a:pt x="14477" y="0"/>
                  <a:pt x="14492" y="3"/>
                  <a:pt x="14506" y="9"/>
                </a:cubicBezTo>
                <a:cubicBezTo>
                  <a:pt x="14521" y="15"/>
                  <a:pt x="14534" y="24"/>
                  <a:pt x="14545" y="35"/>
                </a:cubicBezTo>
                <a:cubicBezTo>
                  <a:pt x="14556" y="46"/>
                  <a:pt x="14565" y="59"/>
                  <a:pt x="14571" y="73"/>
                </a:cubicBezTo>
                <a:cubicBezTo>
                  <a:pt x="14577" y="88"/>
                  <a:pt x="14580" y="103"/>
                  <a:pt x="14580" y="119"/>
                </a:cubicBezTo>
                <a:lnTo>
                  <a:pt x="14580" y="5438"/>
                </a:lnTo>
                <a:cubicBezTo>
                  <a:pt x="14580" y="5454"/>
                  <a:pt x="14577" y="5469"/>
                  <a:pt x="14571" y="5484"/>
                </a:cubicBezTo>
                <a:cubicBezTo>
                  <a:pt x="14565" y="5498"/>
                  <a:pt x="14556" y="5511"/>
                  <a:pt x="14545" y="5522"/>
                </a:cubicBezTo>
                <a:cubicBezTo>
                  <a:pt x="14534" y="5533"/>
                  <a:pt x="14521" y="5542"/>
                  <a:pt x="14506" y="5548"/>
                </a:cubicBezTo>
                <a:cubicBezTo>
                  <a:pt x="14492" y="5554"/>
                  <a:pt x="14477" y="5557"/>
                  <a:pt x="14461" y="5557"/>
                </a:cubicBezTo>
                <a:lnTo>
                  <a:pt x="93" y="5557"/>
                </a:lnTo>
                <a:cubicBezTo>
                  <a:pt x="81" y="5557"/>
                  <a:pt x="69" y="5554"/>
                  <a:pt x="58" y="5548"/>
                </a:cubicBezTo>
                <a:cubicBezTo>
                  <a:pt x="46" y="5542"/>
                  <a:pt x="36" y="5533"/>
                  <a:pt x="28" y="5522"/>
                </a:cubicBezTo>
                <a:cubicBezTo>
                  <a:pt x="19" y="5511"/>
                  <a:pt x="12" y="5498"/>
                  <a:pt x="7" y="5484"/>
                </a:cubicBezTo>
                <a:cubicBezTo>
                  <a:pt x="3" y="5469"/>
                  <a:pt x="0" y="5454"/>
                  <a:pt x="0" y="5438"/>
                </a:cubicBezTo>
                <a:close/>
              </a:path>
            </a:pathLst>
          </a:custGeom>
          <a:solidFill>
            <a:srgbClr val="F5F5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791280" y="3752640"/>
            <a:ext cx="5208480" cy="19440"/>
          </a:xfrm>
          <a:custGeom>
            <a:avLst/>
            <a:gdLst/>
            <a:ahLst/>
            <a:rect l="0" t="0" r="r" b="b"/>
            <a:pathLst>
              <a:path w="14468" h="54">
                <a:moveTo>
                  <a:pt x="14447" y="54"/>
                </a:moveTo>
                <a:lnTo>
                  <a:pt x="127" y="54"/>
                </a:lnTo>
                <a:lnTo>
                  <a:pt x="0" y="12"/>
                </a:lnTo>
                <a:cubicBezTo>
                  <a:pt x="8" y="5"/>
                  <a:pt x="15" y="0"/>
                  <a:pt x="24" y="0"/>
                </a:cubicBezTo>
                <a:lnTo>
                  <a:pt x="14392" y="0"/>
                </a:lnTo>
                <a:cubicBezTo>
                  <a:pt x="14421" y="0"/>
                  <a:pt x="14446" y="11"/>
                  <a:pt x="14467" y="32"/>
                </a:cubicBezTo>
                <a:cubicBezTo>
                  <a:pt x="14467" y="33"/>
                  <a:pt x="14468" y="33"/>
                  <a:pt x="14468" y="33"/>
                </a:cubicBezTo>
                <a:lnTo>
                  <a:pt x="14447" y="54"/>
                </a:lnTo>
                <a:close/>
              </a:path>
            </a:pathLst>
          </a:custGeom>
          <a:solidFill>
            <a:srgbClr val="DADD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791280" y="5724360"/>
            <a:ext cx="5208480" cy="19440"/>
          </a:xfrm>
          <a:custGeom>
            <a:avLst/>
            <a:gdLst/>
            <a:ahLst/>
            <a:rect l="0" t="0" r="r" b="b"/>
            <a:pathLst>
              <a:path w="14468" h="54">
                <a:moveTo>
                  <a:pt x="127" y="0"/>
                </a:moveTo>
                <a:lnTo>
                  <a:pt x="14447" y="0"/>
                </a:lnTo>
                <a:lnTo>
                  <a:pt x="14468" y="21"/>
                </a:lnTo>
                <a:cubicBezTo>
                  <a:pt x="14468" y="21"/>
                  <a:pt x="14467" y="21"/>
                  <a:pt x="14467" y="22"/>
                </a:cubicBezTo>
                <a:cubicBezTo>
                  <a:pt x="14446" y="44"/>
                  <a:pt x="14421" y="54"/>
                  <a:pt x="14392" y="54"/>
                </a:cubicBezTo>
                <a:lnTo>
                  <a:pt x="24" y="54"/>
                </a:lnTo>
                <a:cubicBezTo>
                  <a:pt x="15" y="54"/>
                  <a:pt x="8" y="50"/>
                  <a:pt x="0" y="43"/>
                </a:cubicBezTo>
                <a:lnTo>
                  <a:pt x="127" y="0"/>
                </a:lnTo>
                <a:close/>
              </a:path>
            </a:pathLst>
          </a:custGeom>
          <a:solidFill>
            <a:srgbClr val="DADD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5991120" y="3763800"/>
            <a:ext cx="19440" cy="1968840"/>
          </a:xfrm>
          <a:custGeom>
            <a:avLst/>
            <a:gdLst/>
            <a:ahLst/>
            <a:rect l="0" t="0" r="r" b="b"/>
            <a:pathLst>
              <a:path w="54" h="5469">
                <a:moveTo>
                  <a:pt x="0" y="5447"/>
                </a:moveTo>
                <a:lnTo>
                  <a:pt x="0" y="22"/>
                </a:lnTo>
                <a:lnTo>
                  <a:pt x="22" y="0"/>
                </a:lnTo>
                <a:cubicBezTo>
                  <a:pt x="43" y="21"/>
                  <a:pt x="54" y="46"/>
                  <a:pt x="54" y="75"/>
                </a:cubicBezTo>
                <a:lnTo>
                  <a:pt x="54" y="5394"/>
                </a:lnTo>
                <a:cubicBezTo>
                  <a:pt x="54" y="5423"/>
                  <a:pt x="43" y="5448"/>
                  <a:pt x="22" y="5469"/>
                </a:cubicBezTo>
                <a:lnTo>
                  <a:pt x="0" y="5447"/>
                </a:lnTo>
                <a:close/>
              </a:path>
            </a:pathLst>
          </a:custGeom>
          <a:solidFill>
            <a:srgbClr val="DADD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780840" y="3756240"/>
            <a:ext cx="16560" cy="1983960"/>
          </a:xfrm>
          <a:custGeom>
            <a:avLst/>
            <a:gdLst/>
            <a:ahLst/>
            <a:rect l="0" t="0" r="r" b="b"/>
            <a:pathLst>
              <a:path w="46" h="5511">
                <a:moveTo>
                  <a:pt x="46" y="5"/>
                </a:moveTo>
                <a:lnTo>
                  <a:pt x="46" y="5506"/>
                </a:lnTo>
                <a:lnTo>
                  <a:pt x="31" y="5511"/>
                </a:lnTo>
                <a:cubicBezTo>
                  <a:pt x="26" y="5506"/>
                  <a:pt x="21" y="5499"/>
                  <a:pt x="17" y="5490"/>
                </a:cubicBezTo>
                <a:cubicBezTo>
                  <a:pt x="5" y="5469"/>
                  <a:pt x="0" y="5444"/>
                  <a:pt x="0" y="5415"/>
                </a:cubicBezTo>
                <a:lnTo>
                  <a:pt x="0" y="96"/>
                </a:lnTo>
                <a:cubicBezTo>
                  <a:pt x="0" y="67"/>
                  <a:pt x="5" y="42"/>
                  <a:pt x="17" y="21"/>
                </a:cubicBezTo>
                <a:cubicBezTo>
                  <a:pt x="21" y="12"/>
                  <a:pt x="26" y="5"/>
                  <a:pt x="31" y="0"/>
                </a:cubicBezTo>
                <a:lnTo>
                  <a:pt x="46" y="5"/>
                </a:lnTo>
                <a:close/>
              </a:path>
            </a:pathLst>
          </a:custGeom>
          <a:solidFill>
            <a:srgbClr val="295A9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747720" y="1970280"/>
            <a:ext cx="27075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desto ausgewogener das Outﬁt.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747720" y="2298600"/>
            <a:ext cx="2014560" cy="26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20" b="1" u="none" strike="noStrike">
                <a:solidFill>
                  <a:srgbClr val="295A97"/>
                </a:solidFill>
                <a:effectLst/>
                <a:uFillTx/>
                <a:latin typeface="NotoSans"/>
                <a:ea typeface="NotoSans"/>
              </a:rPr>
              <a:t>Deﬁnition der Scores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909720" y="2715480"/>
            <a:ext cx="146520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u="none" strike="noStrike">
                <a:solidFill>
                  <a:srgbClr val="282828"/>
                </a:solidFill>
                <a:effectLst/>
                <a:uFillTx/>
                <a:latin typeface="Consolas"/>
                <a:ea typeface="Consolas"/>
              </a:rPr>
              <a:t>type alias Scores =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909720" y="2906280"/>
            <a:ext cx="246744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u="none" strike="noStrike">
                <a:solidFill>
                  <a:srgbClr val="282828"/>
                </a:solidFill>
                <a:effectLst/>
                <a:uFillTx/>
                <a:latin typeface="Consolas"/>
                <a:ea typeface="Consolas"/>
              </a:rPr>
              <a:t>    { style : Int, comfort : Int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909720" y="3096720"/>
            <a:ext cx="269892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u="none" strike="noStrike">
                <a:solidFill>
                  <a:srgbClr val="282828"/>
                </a:solidFill>
                <a:effectLst/>
                <a:uFillTx/>
                <a:latin typeface="Consolas"/>
                <a:ea typeface="Consolas"/>
              </a:rPr>
              <a:t>    , formal : Int, durable : Int }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747720" y="3450960"/>
            <a:ext cx="3702960" cy="26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20" b="1" u="none" strike="noStrike">
                <a:solidFill>
                  <a:srgbClr val="295A97"/>
                </a:solidFill>
                <a:effectLst/>
                <a:uFillTx/>
                <a:latin typeface="NotoSans"/>
                <a:ea typeface="NotoSans"/>
              </a:rPr>
              <a:t>Berechnung (Maximum pro Kategorie)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909720" y="3868200"/>
            <a:ext cx="161964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u="none" strike="noStrike">
                <a:solidFill>
                  <a:srgbClr val="282828"/>
                </a:solidFill>
                <a:effectLst/>
                <a:uFillTx/>
                <a:latin typeface="Consolas"/>
                <a:ea typeface="Consolas"/>
              </a:rPr>
              <a:t>combineScores items =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909720" y="4058640"/>
            <a:ext cx="239040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u="none" strike="noStrike">
                <a:solidFill>
                  <a:srgbClr val="282828"/>
                </a:solidFill>
                <a:effectLst/>
                <a:uFillTx/>
                <a:latin typeface="Consolas"/>
                <a:ea typeface="Consolas"/>
              </a:rPr>
              <a:t>    Scores (maxOf .style items)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909720" y="4249080"/>
            <a:ext cx="254448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u="none" strike="noStrike">
                <a:solidFill>
                  <a:srgbClr val="282828"/>
                </a:solidFill>
                <a:effectLst/>
                <a:uFillTx/>
                <a:latin typeface="Consolas"/>
                <a:ea typeface="Consolas"/>
              </a:rPr>
              <a:t>           (maxOf .comfort items)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909720" y="4439520"/>
            <a:ext cx="246744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u="none" strike="noStrike">
                <a:solidFill>
                  <a:srgbClr val="282828"/>
                </a:solidFill>
                <a:effectLst/>
                <a:uFillTx/>
                <a:latin typeface="Consolas"/>
                <a:ea typeface="Consolas"/>
              </a:rPr>
              <a:t>           (maxOf .formal items)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909720" y="4620600"/>
            <a:ext cx="254448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u="none" strike="noStrike">
                <a:solidFill>
                  <a:srgbClr val="282828"/>
                </a:solidFill>
                <a:effectLst/>
                <a:uFillTx/>
                <a:latin typeface="Consolas"/>
                <a:ea typeface="Consolas"/>
              </a:rPr>
              <a:t>           (maxOf .durable items)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909720" y="4809240"/>
            <a:ext cx="1056600" cy="92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282828"/>
                </a:solidFill>
                <a:effectLst/>
                <a:uFillTx/>
                <a:latin typeface="Consolas"/>
                <a:ea typeface="Consolas"/>
              </a:rPr>
              <a:t>maxOf accessor list =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909720" y="5066640"/>
            <a:ext cx="604080" cy="92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282828"/>
                </a:solidFill>
                <a:effectLst/>
                <a:uFillTx/>
                <a:latin typeface="Consolas"/>
                <a:ea typeface="Consolas"/>
              </a:rPr>
              <a:t>List.maximum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6186240" y="2595240"/>
            <a:ext cx="5258160" cy="1334160"/>
          </a:xfrm>
          <a:custGeom>
            <a:avLst/>
            <a:gdLst/>
            <a:ahLst/>
            <a:rect l="0" t="0" r="r" b="b"/>
            <a:pathLst>
              <a:path w="14606" h="3706">
                <a:moveTo>
                  <a:pt x="0" y="3586"/>
                </a:moveTo>
                <a:lnTo>
                  <a:pt x="0" y="119"/>
                </a:lnTo>
                <a:cubicBezTo>
                  <a:pt x="0" y="104"/>
                  <a:pt x="3" y="88"/>
                  <a:pt x="7" y="74"/>
                </a:cubicBezTo>
                <a:cubicBezTo>
                  <a:pt x="12" y="59"/>
                  <a:pt x="19" y="46"/>
                  <a:pt x="27" y="35"/>
                </a:cubicBezTo>
                <a:cubicBezTo>
                  <a:pt x="36" y="24"/>
                  <a:pt x="46" y="16"/>
                  <a:pt x="57" y="9"/>
                </a:cubicBezTo>
                <a:cubicBezTo>
                  <a:pt x="69" y="3"/>
                  <a:pt x="81" y="0"/>
                  <a:pt x="93" y="0"/>
                </a:cubicBezTo>
                <a:lnTo>
                  <a:pt x="14487" y="0"/>
                </a:lnTo>
                <a:cubicBezTo>
                  <a:pt x="14503" y="0"/>
                  <a:pt x="14518" y="3"/>
                  <a:pt x="14533" y="9"/>
                </a:cubicBezTo>
                <a:cubicBezTo>
                  <a:pt x="14547" y="16"/>
                  <a:pt x="14560" y="24"/>
                  <a:pt x="14571" y="35"/>
                </a:cubicBezTo>
                <a:cubicBezTo>
                  <a:pt x="14582" y="46"/>
                  <a:pt x="14591" y="59"/>
                  <a:pt x="14597" y="74"/>
                </a:cubicBezTo>
                <a:cubicBezTo>
                  <a:pt x="14603" y="88"/>
                  <a:pt x="14606" y="104"/>
                  <a:pt x="14606" y="119"/>
                </a:cubicBezTo>
                <a:lnTo>
                  <a:pt x="14606" y="3586"/>
                </a:lnTo>
                <a:cubicBezTo>
                  <a:pt x="14606" y="3602"/>
                  <a:pt x="14603" y="3617"/>
                  <a:pt x="14597" y="3632"/>
                </a:cubicBezTo>
                <a:cubicBezTo>
                  <a:pt x="14591" y="3647"/>
                  <a:pt x="14582" y="3660"/>
                  <a:pt x="14571" y="3671"/>
                </a:cubicBezTo>
                <a:cubicBezTo>
                  <a:pt x="14560" y="3682"/>
                  <a:pt x="14547" y="3690"/>
                  <a:pt x="14533" y="3696"/>
                </a:cubicBezTo>
                <a:cubicBezTo>
                  <a:pt x="14518" y="3703"/>
                  <a:pt x="14503" y="3706"/>
                  <a:pt x="14487" y="3706"/>
                </a:cubicBezTo>
                <a:lnTo>
                  <a:pt x="93" y="3706"/>
                </a:lnTo>
                <a:cubicBezTo>
                  <a:pt x="81" y="3706"/>
                  <a:pt x="69" y="3703"/>
                  <a:pt x="57" y="3696"/>
                </a:cubicBezTo>
                <a:cubicBezTo>
                  <a:pt x="46" y="3690"/>
                  <a:pt x="36" y="3682"/>
                  <a:pt x="27" y="3671"/>
                </a:cubicBezTo>
                <a:cubicBezTo>
                  <a:pt x="19" y="3660"/>
                  <a:pt x="12" y="3647"/>
                  <a:pt x="7" y="3632"/>
                </a:cubicBezTo>
                <a:cubicBezTo>
                  <a:pt x="3" y="3617"/>
                  <a:pt x="0" y="3602"/>
                  <a:pt x="0" y="3586"/>
                </a:cubicBezTo>
                <a:close/>
              </a:path>
            </a:pathLst>
          </a:custGeom>
          <a:solidFill>
            <a:srgbClr val="F5F5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6211080" y="2600280"/>
            <a:ext cx="5217840" cy="19440"/>
          </a:xfrm>
          <a:custGeom>
            <a:avLst/>
            <a:gdLst/>
            <a:ahLst/>
            <a:rect l="0" t="0" r="r" b="b"/>
            <a:pathLst>
              <a:path w="14494" h="54">
                <a:moveTo>
                  <a:pt x="14474" y="54"/>
                </a:moveTo>
                <a:lnTo>
                  <a:pt x="127" y="54"/>
                </a:lnTo>
                <a:lnTo>
                  <a:pt x="0" y="10"/>
                </a:lnTo>
                <a:cubicBezTo>
                  <a:pt x="7" y="3"/>
                  <a:pt x="15" y="0"/>
                  <a:pt x="24" y="0"/>
                </a:cubicBezTo>
                <a:lnTo>
                  <a:pt x="14418" y="0"/>
                </a:lnTo>
                <a:cubicBezTo>
                  <a:pt x="14447" y="0"/>
                  <a:pt x="14472" y="10"/>
                  <a:pt x="14493" y="31"/>
                </a:cubicBezTo>
                <a:lnTo>
                  <a:pt x="14494" y="33"/>
                </a:lnTo>
                <a:lnTo>
                  <a:pt x="14474" y="54"/>
                </a:lnTo>
                <a:close/>
              </a:path>
            </a:pathLst>
          </a:custGeom>
          <a:solidFill>
            <a:srgbClr val="DADD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6211080" y="3904920"/>
            <a:ext cx="5217840" cy="19440"/>
          </a:xfrm>
          <a:custGeom>
            <a:avLst/>
            <a:gdLst/>
            <a:ahLst/>
            <a:rect l="0" t="0" r="r" b="b"/>
            <a:pathLst>
              <a:path w="14494" h="54">
                <a:moveTo>
                  <a:pt x="127" y="0"/>
                </a:moveTo>
                <a:lnTo>
                  <a:pt x="14474" y="0"/>
                </a:lnTo>
                <a:lnTo>
                  <a:pt x="14494" y="21"/>
                </a:lnTo>
                <a:lnTo>
                  <a:pt x="14493" y="22"/>
                </a:lnTo>
                <a:cubicBezTo>
                  <a:pt x="14472" y="43"/>
                  <a:pt x="14447" y="54"/>
                  <a:pt x="14418" y="54"/>
                </a:cubicBezTo>
                <a:lnTo>
                  <a:pt x="24" y="54"/>
                </a:lnTo>
                <a:cubicBezTo>
                  <a:pt x="15" y="54"/>
                  <a:pt x="7" y="51"/>
                  <a:pt x="0" y="43"/>
                </a:cubicBezTo>
                <a:lnTo>
                  <a:pt x="127" y="0"/>
                </a:lnTo>
                <a:close/>
              </a:path>
            </a:pathLst>
          </a:custGeom>
          <a:solidFill>
            <a:srgbClr val="DADD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11420280" y="2611440"/>
            <a:ext cx="19440" cy="1301760"/>
          </a:xfrm>
          <a:custGeom>
            <a:avLst/>
            <a:gdLst/>
            <a:ahLst/>
            <a:rect l="0" t="0" r="r" b="b"/>
            <a:pathLst>
              <a:path w="54" h="3616">
                <a:moveTo>
                  <a:pt x="0" y="3594"/>
                </a:moveTo>
                <a:lnTo>
                  <a:pt x="0" y="22"/>
                </a:lnTo>
                <a:lnTo>
                  <a:pt x="22" y="0"/>
                </a:lnTo>
                <a:cubicBezTo>
                  <a:pt x="44" y="20"/>
                  <a:pt x="54" y="45"/>
                  <a:pt x="54" y="74"/>
                </a:cubicBezTo>
                <a:lnTo>
                  <a:pt x="54" y="3541"/>
                </a:lnTo>
                <a:cubicBezTo>
                  <a:pt x="54" y="3571"/>
                  <a:pt x="44" y="3596"/>
                  <a:pt x="22" y="3616"/>
                </a:cubicBezTo>
                <a:lnTo>
                  <a:pt x="0" y="3594"/>
                </a:lnTo>
                <a:close/>
              </a:path>
            </a:pathLst>
          </a:custGeom>
          <a:solidFill>
            <a:srgbClr val="DADD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6200640" y="2603880"/>
            <a:ext cx="16560" cy="1316880"/>
          </a:xfrm>
          <a:custGeom>
            <a:avLst/>
            <a:gdLst/>
            <a:ahLst/>
            <a:rect l="0" t="0" r="r" b="b"/>
            <a:pathLst>
              <a:path w="46" h="3658">
                <a:moveTo>
                  <a:pt x="46" y="5"/>
                </a:moveTo>
                <a:lnTo>
                  <a:pt x="46" y="3653"/>
                </a:lnTo>
                <a:lnTo>
                  <a:pt x="30" y="3658"/>
                </a:lnTo>
                <a:cubicBezTo>
                  <a:pt x="25" y="3653"/>
                  <a:pt x="20" y="3646"/>
                  <a:pt x="15" y="3637"/>
                </a:cubicBezTo>
                <a:cubicBezTo>
                  <a:pt x="5" y="3617"/>
                  <a:pt x="0" y="3592"/>
                  <a:pt x="0" y="3562"/>
                </a:cubicBezTo>
                <a:lnTo>
                  <a:pt x="0" y="95"/>
                </a:lnTo>
                <a:cubicBezTo>
                  <a:pt x="0" y="66"/>
                  <a:pt x="5" y="41"/>
                  <a:pt x="15" y="21"/>
                </a:cubicBezTo>
                <a:cubicBezTo>
                  <a:pt x="20" y="12"/>
                  <a:pt x="25" y="5"/>
                  <a:pt x="30" y="0"/>
                </a:cubicBezTo>
                <a:lnTo>
                  <a:pt x="46" y="5"/>
                </a:lnTo>
                <a:close/>
              </a:path>
            </a:pathLst>
          </a:custGeom>
          <a:solidFill>
            <a:srgbClr val="295A9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6186240" y="4319280"/>
            <a:ext cx="5258160" cy="1134000"/>
          </a:xfrm>
          <a:custGeom>
            <a:avLst/>
            <a:gdLst/>
            <a:ahLst/>
            <a:rect l="0" t="0" r="r" b="b"/>
            <a:pathLst>
              <a:path w="14606" h="3150">
                <a:moveTo>
                  <a:pt x="0" y="3031"/>
                </a:moveTo>
                <a:lnTo>
                  <a:pt x="0" y="119"/>
                </a:lnTo>
                <a:cubicBezTo>
                  <a:pt x="0" y="104"/>
                  <a:pt x="3" y="88"/>
                  <a:pt x="7" y="74"/>
                </a:cubicBezTo>
                <a:cubicBezTo>
                  <a:pt x="12" y="59"/>
                  <a:pt x="19" y="46"/>
                  <a:pt x="27" y="35"/>
                </a:cubicBezTo>
                <a:cubicBezTo>
                  <a:pt x="36" y="24"/>
                  <a:pt x="46" y="15"/>
                  <a:pt x="57" y="9"/>
                </a:cubicBezTo>
                <a:cubicBezTo>
                  <a:pt x="69" y="3"/>
                  <a:pt x="81" y="0"/>
                  <a:pt x="93" y="0"/>
                </a:cubicBezTo>
                <a:lnTo>
                  <a:pt x="14487" y="0"/>
                </a:lnTo>
                <a:cubicBezTo>
                  <a:pt x="14503" y="0"/>
                  <a:pt x="14518" y="3"/>
                  <a:pt x="14533" y="9"/>
                </a:cubicBezTo>
                <a:cubicBezTo>
                  <a:pt x="14547" y="15"/>
                  <a:pt x="14560" y="24"/>
                  <a:pt x="14571" y="35"/>
                </a:cubicBezTo>
                <a:cubicBezTo>
                  <a:pt x="14582" y="46"/>
                  <a:pt x="14591" y="59"/>
                  <a:pt x="14597" y="74"/>
                </a:cubicBezTo>
                <a:cubicBezTo>
                  <a:pt x="14603" y="88"/>
                  <a:pt x="14606" y="104"/>
                  <a:pt x="14606" y="119"/>
                </a:cubicBezTo>
                <a:lnTo>
                  <a:pt x="14606" y="3031"/>
                </a:lnTo>
                <a:cubicBezTo>
                  <a:pt x="14606" y="3047"/>
                  <a:pt x="14603" y="3062"/>
                  <a:pt x="14597" y="3076"/>
                </a:cubicBezTo>
                <a:cubicBezTo>
                  <a:pt x="14591" y="3091"/>
                  <a:pt x="14582" y="3104"/>
                  <a:pt x="14571" y="3115"/>
                </a:cubicBezTo>
                <a:cubicBezTo>
                  <a:pt x="14560" y="3126"/>
                  <a:pt x="14547" y="3135"/>
                  <a:pt x="14533" y="3141"/>
                </a:cubicBezTo>
                <a:cubicBezTo>
                  <a:pt x="14518" y="3147"/>
                  <a:pt x="14503" y="3150"/>
                  <a:pt x="14487" y="3150"/>
                </a:cubicBezTo>
                <a:lnTo>
                  <a:pt x="93" y="3150"/>
                </a:lnTo>
                <a:cubicBezTo>
                  <a:pt x="81" y="3150"/>
                  <a:pt x="69" y="3147"/>
                  <a:pt x="57" y="3141"/>
                </a:cubicBezTo>
                <a:cubicBezTo>
                  <a:pt x="46" y="3135"/>
                  <a:pt x="36" y="3126"/>
                  <a:pt x="27" y="3115"/>
                </a:cubicBezTo>
                <a:cubicBezTo>
                  <a:pt x="19" y="3104"/>
                  <a:pt x="12" y="3091"/>
                  <a:pt x="7" y="3076"/>
                </a:cubicBezTo>
                <a:cubicBezTo>
                  <a:pt x="3" y="3062"/>
                  <a:pt x="0" y="3047"/>
                  <a:pt x="0" y="3031"/>
                </a:cubicBezTo>
                <a:close/>
              </a:path>
            </a:pathLst>
          </a:custGeom>
          <a:solidFill>
            <a:srgbClr val="F5F5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6211080" y="4324320"/>
            <a:ext cx="5217840" cy="19080"/>
          </a:xfrm>
          <a:custGeom>
            <a:avLst/>
            <a:gdLst/>
            <a:ahLst/>
            <a:rect l="0" t="0" r="r" b="b"/>
            <a:pathLst>
              <a:path w="14494" h="53">
                <a:moveTo>
                  <a:pt x="14474" y="53"/>
                </a:moveTo>
                <a:lnTo>
                  <a:pt x="127" y="53"/>
                </a:lnTo>
                <a:lnTo>
                  <a:pt x="0" y="10"/>
                </a:lnTo>
                <a:cubicBezTo>
                  <a:pt x="7" y="3"/>
                  <a:pt x="15" y="0"/>
                  <a:pt x="24" y="0"/>
                </a:cubicBezTo>
                <a:lnTo>
                  <a:pt x="14418" y="0"/>
                </a:lnTo>
                <a:cubicBezTo>
                  <a:pt x="14447" y="0"/>
                  <a:pt x="14472" y="10"/>
                  <a:pt x="14493" y="32"/>
                </a:cubicBezTo>
                <a:cubicBezTo>
                  <a:pt x="14493" y="32"/>
                  <a:pt x="14494" y="32"/>
                  <a:pt x="14494" y="33"/>
                </a:cubicBezTo>
                <a:lnTo>
                  <a:pt x="14474" y="53"/>
                </a:lnTo>
                <a:close/>
              </a:path>
            </a:pathLst>
          </a:custGeom>
          <a:solidFill>
            <a:srgbClr val="DADD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6211080" y="5429160"/>
            <a:ext cx="5217840" cy="19440"/>
          </a:xfrm>
          <a:custGeom>
            <a:avLst/>
            <a:gdLst/>
            <a:ahLst/>
            <a:rect l="0" t="0" r="r" b="b"/>
            <a:pathLst>
              <a:path w="14494" h="54">
                <a:moveTo>
                  <a:pt x="127" y="0"/>
                </a:moveTo>
                <a:lnTo>
                  <a:pt x="14474" y="0"/>
                </a:lnTo>
                <a:lnTo>
                  <a:pt x="14494" y="20"/>
                </a:lnTo>
                <a:cubicBezTo>
                  <a:pt x="14494" y="21"/>
                  <a:pt x="14493" y="21"/>
                  <a:pt x="14493" y="22"/>
                </a:cubicBezTo>
                <a:cubicBezTo>
                  <a:pt x="14472" y="43"/>
                  <a:pt x="14447" y="54"/>
                  <a:pt x="14418" y="54"/>
                </a:cubicBezTo>
                <a:lnTo>
                  <a:pt x="24" y="54"/>
                </a:lnTo>
                <a:cubicBezTo>
                  <a:pt x="15" y="54"/>
                  <a:pt x="7" y="50"/>
                  <a:pt x="0" y="43"/>
                </a:cubicBezTo>
                <a:lnTo>
                  <a:pt x="127" y="0"/>
                </a:lnTo>
                <a:close/>
              </a:path>
            </a:pathLst>
          </a:custGeom>
          <a:solidFill>
            <a:srgbClr val="DADD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11420280" y="4335480"/>
            <a:ext cx="19440" cy="1101960"/>
          </a:xfrm>
          <a:custGeom>
            <a:avLst/>
            <a:gdLst/>
            <a:ahLst/>
            <a:rect l="0" t="0" r="r" b="b"/>
            <a:pathLst>
              <a:path w="54" h="3061">
                <a:moveTo>
                  <a:pt x="0" y="3039"/>
                </a:moveTo>
                <a:lnTo>
                  <a:pt x="0" y="21"/>
                </a:lnTo>
                <a:lnTo>
                  <a:pt x="22" y="0"/>
                </a:lnTo>
                <a:cubicBezTo>
                  <a:pt x="44" y="20"/>
                  <a:pt x="54" y="45"/>
                  <a:pt x="54" y="74"/>
                </a:cubicBezTo>
                <a:lnTo>
                  <a:pt x="54" y="2986"/>
                </a:lnTo>
                <a:cubicBezTo>
                  <a:pt x="54" y="3015"/>
                  <a:pt x="44" y="3040"/>
                  <a:pt x="22" y="3061"/>
                </a:cubicBezTo>
                <a:lnTo>
                  <a:pt x="0" y="3039"/>
                </a:lnTo>
                <a:close/>
              </a:path>
            </a:pathLst>
          </a:custGeom>
          <a:solidFill>
            <a:srgbClr val="DADD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6200640" y="4327920"/>
            <a:ext cx="16560" cy="1117080"/>
          </a:xfrm>
          <a:custGeom>
            <a:avLst/>
            <a:gdLst/>
            <a:ahLst/>
            <a:rect l="0" t="0" r="r" b="b"/>
            <a:pathLst>
              <a:path w="46" h="3103">
                <a:moveTo>
                  <a:pt x="46" y="5"/>
                </a:moveTo>
                <a:lnTo>
                  <a:pt x="46" y="3098"/>
                </a:lnTo>
                <a:lnTo>
                  <a:pt x="30" y="3103"/>
                </a:lnTo>
                <a:cubicBezTo>
                  <a:pt x="25" y="3098"/>
                  <a:pt x="20" y="3091"/>
                  <a:pt x="15" y="3082"/>
                </a:cubicBezTo>
                <a:cubicBezTo>
                  <a:pt x="5" y="3061"/>
                  <a:pt x="0" y="3036"/>
                  <a:pt x="0" y="3007"/>
                </a:cubicBezTo>
                <a:lnTo>
                  <a:pt x="0" y="95"/>
                </a:lnTo>
                <a:cubicBezTo>
                  <a:pt x="0" y="66"/>
                  <a:pt x="5" y="41"/>
                  <a:pt x="15" y="21"/>
                </a:cubicBezTo>
                <a:cubicBezTo>
                  <a:pt x="20" y="12"/>
                  <a:pt x="25" y="5"/>
                  <a:pt x="30" y="0"/>
                </a:cubicBezTo>
                <a:lnTo>
                  <a:pt x="46" y="5"/>
                </a:lnTo>
                <a:close/>
              </a:path>
            </a:pathLst>
          </a:custGeom>
          <a:solidFill>
            <a:srgbClr val="295A9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909720" y="5314320"/>
            <a:ext cx="1207440" cy="92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282828"/>
                </a:solidFill>
                <a:effectLst/>
                <a:uFillTx/>
                <a:latin typeface="Consolas"/>
                <a:ea typeface="Consolas"/>
              </a:rPr>
              <a:t>(List.map accessor list)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6172200" y="2298600"/>
            <a:ext cx="1954080" cy="26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20" b="1" u="none" strike="noStrike">
                <a:solidFill>
                  <a:srgbClr val="295A97"/>
                </a:solidFill>
                <a:effectLst/>
                <a:uFillTx/>
                <a:latin typeface="NotoSans"/>
                <a:ea typeface="NotoSans"/>
              </a:rPr>
              <a:t>Umwandlung in SVG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6334200" y="2715480"/>
            <a:ext cx="200484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u="none" strike="noStrike">
                <a:solidFill>
                  <a:srgbClr val="282828"/>
                </a:solidFill>
                <a:effectLst/>
                <a:uFillTx/>
                <a:latin typeface="Consolas"/>
                <a:ea typeface="Consolas"/>
              </a:rPr>
              <a:t>dataPolygon cx cy r axes =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6334200" y="2906280"/>
            <a:ext cx="185076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u="none" strike="noStrike">
                <a:solidFill>
                  <a:srgbClr val="282828"/>
                </a:solidFill>
                <a:effectLst/>
                <a:uFillTx/>
                <a:latin typeface="Consolas"/>
                <a:ea typeface="Consolas"/>
              </a:rPr>
              <a:t>    polygon [ points pts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6334200" y="3096720"/>
            <a:ext cx="215928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u="none" strike="noStrike">
                <a:solidFill>
                  <a:srgbClr val="282828"/>
                </a:solidFill>
                <a:effectLst/>
                <a:uFillTx/>
                <a:latin typeface="Consolas"/>
                <a:ea typeface="Consolas"/>
              </a:rPr>
              <a:t>            , fill "#6b4c3b"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6334200" y="3287160"/>
            <a:ext cx="246744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u="none" strike="noStrike">
                <a:solidFill>
                  <a:srgbClr val="282828"/>
                </a:solidFill>
                <a:effectLst/>
                <a:uFillTx/>
                <a:latin typeface="Consolas"/>
                <a:ea typeface="Consolas"/>
              </a:rPr>
              <a:t>            , fillOpacity "0.35"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6334200" y="3477600"/>
            <a:ext cx="231336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u="none" strike="noStrike">
                <a:solidFill>
                  <a:srgbClr val="282828"/>
                </a:solidFill>
                <a:effectLst/>
                <a:uFillTx/>
                <a:latin typeface="Consolas"/>
                <a:ea typeface="Consolas"/>
              </a:rPr>
              <a:t>            , stroke "#6b4c3b"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6334200" y="3658680"/>
            <a:ext cx="262152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u="none" strike="noStrike">
                <a:solidFill>
                  <a:srgbClr val="282828"/>
                </a:solidFill>
                <a:effectLst/>
                <a:uFillTx/>
                <a:latin typeface="Consolas"/>
                <a:ea typeface="Consolas"/>
              </a:rPr>
              <a:t>            , strokeWidth "2" ] []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6172200" y="4012920"/>
            <a:ext cx="2269800" cy="26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20" b="1" u="none" strike="noStrike">
                <a:solidFill>
                  <a:srgbClr val="295A97"/>
                </a:solidFill>
                <a:effectLst/>
                <a:uFillTx/>
                <a:latin typeface="NotoSans"/>
                <a:ea typeface="NotoSans"/>
              </a:rPr>
              <a:t>Vier Achsen, 90°-Winkel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6334200" y="4439520"/>
            <a:ext cx="46332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u="none" strike="noStrike">
                <a:solidFill>
                  <a:srgbClr val="282828"/>
                </a:solidFill>
                <a:effectLst/>
                <a:uFillTx/>
                <a:latin typeface="Consolas"/>
                <a:ea typeface="Consolas"/>
              </a:rPr>
              <a:t>axes =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6334200" y="4620600"/>
            <a:ext cx="246744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u="none" strike="noStrike">
                <a:solidFill>
                  <a:srgbClr val="282828"/>
                </a:solidFill>
                <a:effectLst/>
                <a:uFillTx/>
                <a:latin typeface="Consolas"/>
                <a:ea typeface="Consolas"/>
              </a:rPr>
              <a:t>    [ ("Style",  deg 270, style)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6334200" y="4811040"/>
            <a:ext cx="269892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u="none" strike="noStrike">
                <a:solidFill>
                  <a:srgbClr val="282828"/>
                </a:solidFill>
                <a:effectLst/>
                <a:uFillTx/>
                <a:latin typeface="Consolas"/>
                <a:ea typeface="Consolas"/>
              </a:rPr>
              <a:t>    , ("Comfort", deg 0,   comfort)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6334200" y="5001480"/>
            <a:ext cx="262152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u="none" strike="noStrike">
                <a:solidFill>
                  <a:srgbClr val="282828"/>
                </a:solidFill>
                <a:effectLst/>
                <a:uFillTx/>
                <a:latin typeface="Consolas"/>
                <a:ea typeface="Consolas"/>
              </a:rPr>
              <a:t>    , ("Formal",  deg 90,  formal)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6334200" y="5192280"/>
            <a:ext cx="285300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0" u="none" strike="noStrike">
                <a:solidFill>
                  <a:srgbClr val="282828"/>
                </a:solidFill>
                <a:effectLst/>
                <a:uFillTx/>
                <a:latin typeface="Consolas"/>
                <a:ea typeface="Consolas"/>
              </a:rPr>
              <a:t>    , ("Durable", deg 180, durable) 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285840" y="197640"/>
            <a:ext cx="2560320" cy="17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NotoSans"/>
                <a:ea typeface="NotoSans"/>
              </a:rPr>
              <a:t>Martin-Luther-Universität Halle-Wittenberg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285840" y="6465240"/>
            <a:ext cx="2998440" cy="17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NotoSans"/>
                <a:ea typeface="NotoSans"/>
              </a:rPr>
              <a:t>Grundlagen des WWW | SS-26 | Al-Shoumi &amp; Rana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6" name=""/>
          <p:cNvPicPr/>
          <p:nvPr/>
        </p:nvPicPr>
        <p:blipFill>
          <a:blip r:embed="rId1"/>
          <a:stretch/>
        </p:blipFill>
        <p:spPr>
          <a:xfrm>
            <a:off x="10858320" y="142920"/>
            <a:ext cx="952200" cy="51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7" name=""/>
          <p:cNvSpPr/>
          <p:nvPr/>
        </p:nvSpPr>
        <p:spPr>
          <a:xfrm>
            <a:off x="771480" y="1457280"/>
            <a:ext cx="5258160" cy="2543400"/>
          </a:xfrm>
          <a:custGeom>
            <a:avLst/>
            <a:gdLst/>
            <a:ahLst/>
            <a:rect l="0" t="0" r="r" b="b"/>
            <a:pathLst>
              <a:path w="14606" h="7065">
                <a:moveTo>
                  <a:pt x="0" y="6906"/>
                </a:moveTo>
                <a:lnTo>
                  <a:pt x="0" y="158"/>
                </a:lnTo>
                <a:cubicBezTo>
                  <a:pt x="0" y="137"/>
                  <a:pt x="2" y="117"/>
                  <a:pt x="8" y="98"/>
                </a:cubicBezTo>
                <a:cubicBezTo>
                  <a:pt x="13" y="78"/>
                  <a:pt x="21" y="61"/>
                  <a:pt x="31" y="46"/>
                </a:cubicBezTo>
                <a:cubicBezTo>
                  <a:pt x="41" y="31"/>
                  <a:pt x="52" y="20"/>
                  <a:pt x="65" y="12"/>
                </a:cubicBezTo>
                <a:cubicBezTo>
                  <a:pt x="78" y="4"/>
                  <a:pt x="91" y="0"/>
                  <a:pt x="105" y="0"/>
                </a:cubicBezTo>
                <a:lnTo>
                  <a:pt x="14447" y="0"/>
                </a:lnTo>
                <a:cubicBezTo>
                  <a:pt x="14457" y="0"/>
                  <a:pt x="14468" y="1"/>
                  <a:pt x="14478" y="3"/>
                </a:cubicBezTo>
                <a:cubicBezTo>
                  <a:pt x="14488" y="5"/>
                  <a:pt x="14498" y="8"/>
                  <a:pt x="14508" y="12"/>
                </a:cubicBezTo>
                <a:cubicBezTo>
                  <a:pt x="14517" y="16"/>
                  <a:pt x="14526" y="21"/>
                  <a:pt x="14535" y="26"/>
                </a:cubicBezTo>
                <a:cubicBezTo>
                  <a:pt x="14544" y="32"/>
                  <a:pt x="14552" y="39"/>
                  <a:pt x="14559" y="46"/>
                </a:cubicBezTo>
                <a:cubicBezTo>
                  <a:pt x="14566" y="53"/>
                  <a:pt x="14573" y="62"/>
                  <a:pt x="14579" y="70"/>
                </a:cubicBezTo>
                <a:cubicBezTo>
                  <a:pt x="14585" y="79"/>
                  <a:pt x="14590" y="88"/>
                  <a:pt x="14594" y="98"/>
                </a:cubicBezTo>
                <a:cubicBezTo>
                  <a:pt x="14598" y="107"/>
                  <a:pt x="14601" y="117"/>
                  <a:pt x="14603" y="127"/>
                </a:cubicBezTo>
                <a:cubicBezTo>
                  <a:pt x="14605" y="138"/>
                  <a:pt x="14606" y="148"/>
                  <a:pt x="14606" y="158"/>
                </a:cubicBezTo>
                <a:lnTo>
                  <a:pt x="14606" y="6906"/>
                </a:lnTo>
                <a:cubicBezTo>
                  <a:pt x="14606" y="6917"/>
                  <a:pt x="14605" y="6927"/>
                  <a:pt x="14603" y="6937"/>
                </a:cubicBezTo>
                <a:cubicBezTo>
                  <a:pt x="14601" y="6947"/>
                  <a:pt x="14598" y="6957"/>
                  <a:pt x="14594" y="6967"/>
                </a:cubicBezTo>
                <a:cubicBezTo>
                  <a:pt x="14590" y="6977"/>
                  <a:pt x="14585" y="6986"/>
                  <a:pt x="14579" y="6994"/>
                </a:cubicBezTo>
                <a:cubicBezTo>
                  <a:pt x="14573" y="7003"/>
                  <a:pt x="14566" y="7011"/>
                  <a:pt x="14559" y="7019"/>
                </a:cubicBezTo>
                <a:cubicBezTo>
                  <a:pt x="14552" y="7026"/>
                  <a:pt x="14544" y="7032"/>
                  <a:pt x="14535" y="7038"/>
                </a:cubicBezTo>
                <a:cubicBezTo>
                  <a:pt x="14526" y="7044"/>
                  <a:pt x="14517" y="7049"/>
                  <a:pt x="14508" y="7053"/>
                </a:cubicBezTo>
                <a:cubicBezTo>
                  <a:pt x="14498" y="7057"/>
                  <a:pt x="14488" y="7060"/>
                  <a:pt x="14478" y="7062"/>
                </a:cubicBezTo>
                <a:cubicBezTo>
                  <a:pt x="14468" y="7064"/>
                  <a:pt x="14457" y="7065"/>
                  <a:pt x="14447" y="7065"/>
                </a:cubicBezTo>
                <a:lnTo>
                  <a:pt x="105" y="7065"/>
                </a:lnTo>
                <a:cubicBezTo>
                  <a:pt x="91" y="7065"/>
                  <a:pt x="78" y="7061"/>
                  <a:pt x="65" y="7053"/>
                </a:cubicBezTo>
                <a:cubicBezTo>
                  <a:pt x="52" y="7045"/>
                  <a:pt x="41" y="7033"/>
                  <a:pt x="31" y="7019"/>
                </a:cubicBezTo>
                <a:cubicBezTo>
                  <a:pt x="21" y="7004"/>
                  <a:pt x="13" y="6986"/>
                  <a:pt x="8" y="6967"/>
                </a:cubicBezTo>
                <a:cubicBezTo>
                  <a:pt x="2" y="6948"/>
                  <a:pt x="0" y="6927"/>
                  <a:pt x="0" y="6906"/>
                </a:cubicBezTo>
                <a:close/>
              </a:path>
            </a:pathLst>
          </a:custGeom>
          <a:solidFill>
            <a:srgbClr val="F5F5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752400" y="1457280"/>
            <a:ext cx="57240" cy="2543400"/>
          </a:xfrm>
          <a:custGeom>
            <a:avLst/>
            <a:gdLst/>
            <a:ahLst/>
            <a:rect l="0" t="0" r="r" b="b"/>
            <a:pathLst>
              <a:path w="159" h="7065">
                <a:moveTo>
                  <a:pt x="0" y="0"/>
                </a:moveTo>
                <a:lnTo>
                  <a:pt x="159" y="0"/>
                </a:lnTo>
                <a:lnTo>
                  <a:pt x="159" y="7065"/>
                </a:lnTo>
                <a:lnTo>
                  <a:pt x="0" y="7065"/>
                </a:lnTo>
                <a:lnTo>
                  <a:pt x="0" y="0"/>
                </a:lnTo>
                <a:close/>
              </a:path>
            </a:pathLst>
          </a:custGeom>
          <a:solidFill>
            <a:srgbClr val="295A9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3312360" y="1656360"/>
            <a:ext cx="195480" cy="249120"/>
          </a:xfrm>
          <a:custGeom>
            <a:avLst/>
            <a:gdLst/>
            <a:ahLst/>
            <a:rect l="0" t="0" r="r" b="b"/>
            <a:pathLst>
              <a:path w="543" h="692">
                <a:moveTo>
                  <a:pt x="328" y="152"/>
                </a:moveTo>
                <a:lnTo>
                  <a:pt x="318" y="267"/>
                </a:lnTo>
                <a:lnTo>
                  <a:pt x="430" y="267"/>
                </a:lnTo>
                <a:lnTo>
                  <a:pt x="430" y="346"/>
                </a:lnTo>
                <a:lnTo>
                  <a:pt x="311" y="346"/>
                </a:lnTo>
                <a:lnTo>
                  <a:pt x="294" y="547"/>
                </a:lnTo>
                <a:cubicBezTo>
                  <a:pt x="293" y="558"/>
                  <a:pt x="291" y="568"/>
                  <a:pt x="288" y="578"/>
                </a:cubicBezTo>
                <a:cubicBezTo>
                  <a:pt x="285" y="589"/>
                  <a:pt x="280" y="599"/>
                  <a:pt x="276" y="608"/>
                </a:cubicBezTo>
                <a:cubicBezTo>
                  <a:pt x="271" y="617"/>
                  <a:pt x="265" y="626"/>
                  <a:pt x="259" y="634"/>
                </a:cubicBezTo>
                <a:cubicBezTo>
                  <a:pt x="252" y="642"/>
                  <a:pt x="245" y="649"/>
                  <a:pt x="237" y="656"/>
                </a:cubicBezTo>
                <a:cubicBezTo>
                  <a:pt x="229" y="663"/>
                  <a:pt x="220" y="669"/>
                  <a:pt x="211" y="674"/>
                </a:cubicBezTo>
                <a:cubicBezTo>
                  <a:pt x="202" y="679"/>
                  <a:pt x="192" y="683"/>
                  <a:pt x="183" y="686"/>
                </a:cubicBezTo>
                <a:cubicBezTo>
                  <a:pt x="173" y="689"/>
                  <a:pt x="162" y="691"/>
                  <a:pt x="152" y="692"/>
                </a:cubicBezTo>
                <a:cubicBezTo>
                  <a:pt x="142" y="693"/>
                  <a:pt x="131" y="693"/>
                  <a:pt x="121" y="692"/>
                </a:cubicBezTo>
                <a:cubicBezTo>
                  <a:pt x="96" y="690"/>
                  <a:pt x="73" y="683"/>
                  <a:pt x="51" y="670"/>
                </a:cubicBezTo>
                <a:cubicBezTo>
                  <a:pt x="30" y="657"/>
                  <a:pt x="13" y="640"/>
                  <a:pt x="0" y="618"/>
                </a:cubicBezTo>
                <a:lnTo>
                  <a:pt x="59" y="558"/>
                </a:lnTo>
                <a:cubicBezTo>
                  <a:pt x="69" y="588"/>
                  <a:pt x="95" y="611"/>
                  <a:pt x="128" y="614"/>
                </a:cubicBezTo>
                <a:cubicBezTo>
                  <a:pt x="171" y="617"/>
                  <a:pt x="210" y="585"/>
                  <a:pt x="214" y="540"/>
                </a:cubicBezTo>
                <a:lnTo>
                  <a:pt x="231" y="346"/>
                </a:lnTo>
                <a:lnTo>
                  <a:pt x="112" y="346"/>
                </a:lnTo>
                <a:lnTo>
                  <a:pt x="112" y="267"/>
                </a:lnTo>
                <a:lnTo>
                  <a:pt x="238" y="267"/>
                </a:lnTo>
                <a:lnTo>
                  <a:pt x="248" y="145"/>
                </a:lnTo>
                <a:cubicBezTo>
                  <a:pt x="256" y="58"/>
                  <a:pt x="334" y="-7"/>
                  <a:pt x="421" y="1"/>
                </a:cubicBezTo>
                <a:cubicBezTo>
                  <a:pt x="473" y="5"/>
                  <a:pt x="517" y="34"/>
                  <a:pt x="543" y="75"/>
                </a:cubicBezTo>
                <a:lnTo>
                  <a:pt x="483" y="135"/>
                </a:lnTo>
                <a:cubicBezTo>
                  <a:pt x="474" y="105"/>
                  <a:pt x="447" y="83"/>
                  <a:pt x="414" y="80"/>
                </a:cubicBezTo>
                <a:cubicBezTo>
                  <a:pt x="371" y="76"/>
                  <a:pt x="332" y="108"/>
                  <a:pt x="328" y="152"/>
                </a:cubicBezTo>
                <a:close/>
              </a:path>
            </a:pathLst>
          </a:custGeom>
          <a:solidFill>
            <a:srgbClr val="295A9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747720" y="730440"/>
            <a:ext cx="352476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1" u="none" strike="noStrike">
                <a:solidFill>
                  <a:srgbClr val="1F2328"/>
                </a:solidFill>
                <a:effectLst/>
                <a:uFillTx/>
                <a:latin typeface="NotoSans-Semi"/>
                <a:ea typeface="NotoSans-Semi"/>
              </a:rPr>
              <a:t>Ergebnis &amp; Ausblick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2797200" y="1993680"/>
            <a:ext cx="1223640" cy="26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20" b="1" u="none" strike="noStrike">
                <a:solidFill>
                  <a:srgbClr val="295A97"/>
                </a:solidFill>
                <a:effectLst/>
                <a:uFillTx/>
                <a:latin typeface="NotoSans"/>
                <a:ea typeface="NotoSans"/>
              </a:rPr>
              <a:t>Elm als Basis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995400" y="2319120"/>
            <a:ext cx="3494520" cy="25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295A97"/>
                </a:solidFill>
                <a:effectLst/>
                <a:uFillTx/>
                <a:latin typeface="NotoSansMath"/>
                <a:ea typeface="NotoSansMath"/>
              </a:rPr>
              <a:t>▸ </a:t>
            </a:r>
            <a:r>
              <a:rPr lang="en-US" sz="13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Typensicherheit verhindert Laufzeitfehler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6181560" y="1457280"/>
            <a:ext cx="5267520" cy="2543400"/>
          </a:xfrm>
          <a:custGeom>
            <a:avLst/>
            <a:gdLst/>
            <a:ahLst/>
            <a:rect l="0" t="0" r="r" b="b"/>
            <a:pathLst>
              <a:path w="14632" h="7065">
                <a:moveTo>
                  <a:pt x="0" y="6906"/>
                </a:moveTo>
                <a:lnTo>
                  <a:pt x="0" y="158"/>
                </a:lnTo>
                <a:cubicBezTo>
                  <a:pt x="0" y="137"/>
                  <a:pt x="3" y="117"/>
                  <a:pt x="8" y="98"/>
                </a:cubicBezTo>
                <a:cubicBezTo>
                  <a:pt x="13" y="78"/>
                  <a:pt x="21" y="61"/>
                  <a:pt x="31" y="46"/>
                </a:cubicBezTo>
                <a:cubicBezTo>
                  <a:pt x="41" y="31"/>
                  <a:pt x="52" y="20"/>
                  <a:pt x="65" y="12"/>
                </a:cubicBezTo>
                <a:cubicBezTo>
                  <a:pt x="78" y="4"/>
                  <a:pt x="92" y="0"/>
                  <a:pt x="106" y="0"/>
                </a:cubicBezTo>
                <a:lnTo>
                  <a:pt x="14474" y="0"/>
                </a:lnTo>
                <a:cubicBezTo>
                  <a:pt x="14484" y="0"/>
                  <a:pt x="14494" y="1"/>
                  <a:pt x="14505" y="3"/>
                </a:cubicBezTo>
                <a:cubicBezTo>
                  <a:pt x="14515" y="5"/>
                  <a:pt x="14525" y="8"/>
                  <a:pt x="14534" y="12"/>
                </a:cubicBezTo>
                <a:cubicBezTo>
                  <a:pt x="14544" y="16"/>
                  <a:pt x="14553" y="21"/>
                  <a:pt x="14562" y="26"/>
                </a:cubicBezTo>
                <a:cubicBezTo>
                  <a:pt x="14571" y="32"/>
                  <a:pt x="14579" y="39"/>
                  <a:pt x="14586" y="46"/>
                </a:cubicBezTo>
                <a:cubicBezTo>
                  <a:pt x="14593" y="53"/>
                  <a:pt x="14600" y="62"/>
                  <a:pt x="14606" y="70"/>
                </a:cubicBezTo>
                <a:cubicBezTo>
                  <a:pt x="14611" y="79"/>
                  <a:pt x="14616" y="88"/>
                  <a:pt x="14620" y="98"/>
                </a:cubicBezTo>
                <a:cubicBezTo>
                  <a:pt x="14624" y="107"/>
                  <a:pt x="14627" y="117"/>
                  <a:pt x="14629" y="127"/>
                </a:cubicBezTo>
                <a:cubicBezTo>
                  <a:pt x="14631" y="138"/>
                  <a:pt x="14632" y="148"/>
                  <a:pt x="14632" y="158"/>
                </a:cubicBezTo>
                <a:lnTo>
                  <a:pt x="14632" y="6906"/>
                </a:lnTo>
                <a:cubicBezTo>
                  <a:pt x="14632" y="6917"/>
                  <a:pt x="14631" y="6927"/>
                  <a:pt x="14629" y="6937"/>
                </a:cubicBezTo>
                <a:cubicBezTo>
                  <a:pt x="14627" y="6947"/>
                  <a:pt x="14624" y="6957"/>
                  <a:pt x="14620" y="6967"/>
                </a:cubicBezTo>
                <a:cubicBezTo>
                  <a:pt x="14616" y="6977"/>
                  <a:pt x="14611" y="6986"/>
                  <a:pt x="14606" y="6994"/>
                </a:cubicBezTo>
                <a:cubicBezTo>
                  <a:pt x="14600" y="7003"/>
                  <a:pt x="14593" y="7011"/>
                  <a:pt x="14586" y="7019"/>
                </a:cubicBezTo>
                <a:cubicBezTo>
                  <a:pt x="14579" y="7026"/>
                  <a:pt x="14571" y="7032"/>
                  <a:pt x="14562" y="7038"/>
                </a:cubicBezTo>
                <a:cubicBezTo>
                  <a:pt x="14553" y="7044"/>
                  <a:pt x="14544" y="7049"/>
                  <a:pt x="14534" y="7053"/>
                </a:cubicBezTo>
                <a:cubicBezTo>
                  <a:pt x="14525" y="7057"/>
                  <a:pt x="14515" y="7060"/>
                  <a:pt x="14505" y="7062"/>
                </a:cubicBezTo>
                <a:cubicBezTo>
                  <a:pt x="14494" y="7064"/>
                  <a:pt x="14484" y="7065"/>
                  <a:pt x="14474" y="7065"/>
                </a:cubicBezTo>
                <a:lnTo>
                  <a:pt x="106" y="7065"/>
                </a:lnTo>
                <a:cubicBezTo>
                  <a:pt x="92" y="7065"/>
                  <a:pt x="78" y="7061"/>
                  <a:pt x="65" y="7053"/>
                </a:cubicBezTo>
                <a:cubicBezTo>
                  <a:pt x="52" y="7045"/>
                  <a:pt x="41" y="7033"/>
                  <a:pt x="31" y="7019"/>
                </a:cubicBezTo>
                <a:cubicBezTo>
                  <a:pt x="21" y="7004"/>
                  <a:pt x="13" y="6986"/>
                  <a:pt x="8" y="6967"/>
                </a:cubicBezTo>
                <a:cubicBezTo>
                  <a:pt x="3" y="6948"/>
                  <a:pt x="0" y="6927"/>
                  <a:pt x="0" y="6906"/>
                </a:cubicBezTo>
                <a:close/>
              </a:path>
            </a:pathLst>
          </a:custGeom>
          <a:solidFill>
            <a:srgbClr val="EFF5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6162480" y="1457280"/>
            <a:ext cx="57600" cy="2543400"/>
          </a:xfrm>
          <a:custGeom>
            <a:avLst/>
            <a:gdLst/>
            <a:ahLst/>
            <a:rect l="0" t="0" r="r" b="b"/>
            <a:pathLst>
              <a:path w="160" h="7065">
                <a:moveTo>
                  <a:pt x="0" y="0"/>
                </a:moveTo>
                <a:lnTo>
                  <a:pt x="160" y="0"/>
                </a:lnTo>
                <a:lnTo>
                  <a:pt x="160" y="7065"/>
                </a:lnTo>
                <a:lnTo>
                  <a:pt x="0" y="7065"/>
                </a:lnTo>
                <a:lnTo>
                  <a:pt x="0" y="0"/>
                </a:lnTo>
                <a:close/>
              </a:path>
            </a:pathLst>
          </a:custGeom>
          <a:solidFill>
            <a:srgbClr val="9FBF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8677080" y="1638000"/>
            <a:ext cx="286200" cy="286200"/>
          </a:xfrm>
          <a:custGeom>
            <a:avLst/>
            <a:gdLst/>
            <a:ahLst/>
            <a:rect l="0" t="0" r="r" b="b"/>
            <a:pathLst>
              <a:path w="795" h="795">
                <a:moveTo>
                  <a:pt x="319" y="596"/>
                </a:moveTo>
                <a:lnTo>
                  <a:pt x="120" y="397"/>
                </a:lnTo>
                <a:lnTo>
                  <a:pt x="176" y="341"/>
                </a:lnTo>
                <a:lnTo>
                  <a:pt x="319" y="483"/>
                </a:lnTo>
                <a:lnTo>
                  <a:pt x="620" y="182"/>
                </a:lnTo>
                <a:lnTo>
                  <a:pt x="676" y="238"/>
                </a:lnTo>
                <a:lnTo>
                  <a:pt x="319" y="596"/>
                </a:lnTo>
                <a:moveTo>
                  <a:pt x="320" y="8"/>
                </a:moveTo>
                <a:cubicBezTo>
                  <a:pt x="295" y="13"/>
                  <a:pt x="270" y="21"/>
                  <a:pt x="246" y="31"/>
                </a:cubicBezTo>
                <a:cubicBezTo>
                  <a:pt x="222" y="41"/>
                  <a:pt x="199" y="53"/>
                  <a:pt x="177" y="67"/>
                </a:cubicBezTo>
                <a:cubicBezTo>
                  <a:pt x="156" y="82"/>
                  <a:pt x="136" y="98"/>
                  <a:pt x="117" y="117"/>
                </a:cubicBezTo>
                <a:cubicBezTo>
                  <a:pt x="99" y="135"/>
                  <a:pt x="81" y="155"/>
                  <a:pt x="67" y="177"/>
                </a:cubicBezTo>
                <a:cubicBezTo>
                  <a:pt x="52" y="198"/>
                  <a:pt x="40" y="221"/>
                  <a:pt x="30" y="245"/>
                </a:cubicBezTo>
                <a:cubicBezTo>
                  <a:pt x="20" y="269"/>
                  <a:pt x="13" y="294"/>
                  <a:pt x="8" y="320"/>
                </a:cubicBezTo>
                <a:cubicBezTo>
                  <a:pt x="3" y="345"/>
                  <a:pt x="0" y="371"/>
                  <a:pt x="0" y="397"/>
                </a:cubicBezTo>
                <a:cubicBezTo>
                  <a:pt x="0" y="423"/>
                  <a:pt x="3" y="449"/>
                  <a:pt x="8" y="475"/>
                </a:cubicBezTo>
                <a:cubicBezTo>
                  <a:pt x="13" y="500"/>
                  <a:pt x="20" y="525"/>
                  <a:pt x="30" y="549"/>
                </a:cubicBezTo>
                <a:cubicBezTo>
                  <a:pt x="40" y="573"/>
                  <a:pt x="52" y="596"/>
                  <a:pt x="67" y="619"/>
                </a:cubicBezTo>
                <a:cubicBezTo>
                  <a:pt x="81" y="640"/>
                  <a:pt x="99" y="660"/>
                  <a:pt x="117" y="679"/>
                </a:cubicBezTo>
                <a:cubicBezTo>
                  <a:pt x="136" y="697"/>
                  <a:pt x="156" y="714"/>
                  <a:pt x="177" y="728"/>
                </a:cubicBezTo>
                <a:cubicBezTo>
                  <a:pt x="199" y="743"/>
                  <a:pt x="222" y="755"/>
                  <a:pt x="246" y="765"/>
                </a:cubicBezTo>
                <a:cubicBezTo>
                  <a:pt x="270" y="775"/>
                  <a:pt x="295" y="782"/>
                  <a:pt x="320" y="787"/>
                </a:cubicBezTo>
                <a:cubicBezTo>
                  <a:pt x="346" y="793"/>
                  <a:pt x="372" y="795"/>
                  <a:pt x="398" y="795"/>
                </a:cubicBezTo>
                <a:cubicBezTo>
                  <a:pt x="424" y="795"/>
                  <a:pt x="450" y="793"/>
                  <a:pt x="475" y="787"/>
                </a:cubicBezTo>
                <a:cubicBezTo>
                  <a:pt x="501" y="782"/>
                  <a:pt x="526" y="775"/>
                  <a:pt x="550" y="765"/>
                </a:cubicBezTo>
                <a:cubicBezTo>
                  <a:pt x="574" y="755"/>
                  <a:pt x="597" y="743"/>
                  <a:pt x="618" y="728"/>
                </a:cubicBezTo>
                <a:cubicBezTo>
                  <a:pt x="640" y="714"/>
                  <a:pt x="660" y="697"/>
                  <a:pt x="679" y="679"/>
                </a:cubicBezTo>
                <a:cubicBezTo>
                  <a:pt x="697" y="660"/>
                  <a:pt x="713" y="640"/>
                  <a:pt x="728" y="619"/>
                </a:cubicBezTo>
                <a:cubicBezTo>
                  <a:pt x="742" y="596"/>
                  <a:pt x="755" y="573"/>
                  <a:pt x="765" y="549"/>
                </a:cubicBezTo>
                <a:cubicBezTo>
                  <a:pt x="775" y="525"/>
                  <a:pt x="782" y="500"/>
                  <a:pt x="787" y="475"/>
                </a:cubicBezTo>
                <a:cubicBezTo>
                  <a:pt x="792" y="449"/>
                  <a:pt x="795" y="423"/>
                  <a:pt x="795" y="397"/>
                </a:cubicBezTo>
                <a:cubicBezTo>
                  <a:pt x="795" y="371"/>
                  <a:pt x="792" y="345"/>
                  <a:pt x="787" y="320"/>
                </a:cubicBezTo>
                <a:cubicBezTo>
                  <a:pt x="782" y="294"/>
                  <a:pt x="775" y="269"/>
                  <a:pt x="765" y="245"/>
                </a:cubicBezTo>
                <a:cubicBezTo>
                  <a:pt x="755" y="221"/>
                  <a:pt x="742" y="198"/>
                  <a:pt x="728" y="177"/>
                </a:cubicBezTo>
                <a:cubicBezTo>
                  <a:pt x="713" y="155"/>
                  <a:pt x="697" y="135"/>
                  <a:pt x="679" y="117"/>
                </a:cubicBezTo>
                <a:cubicBezTo>
                  <a:pt x="660" y="98"/>
                  <a:pt x="640" y="82"/>
                  <a:pt x="618" y="67"/>
                </a:cubicBezTo>
                <a:cubicBezTo>
                  <a:pt x="597" y="53"/>
                  <a:pt x="574" y="41"/>
                  <a:pt x="550" y="31"/>
                </a:cubicBezTo>
                <a:cubicBezTo>
                  <a:pt x="526" y="21"/>
                  <a:pt x="501" y="13"/>
                  <a:pt x="475" y="8"/>
                </a:cubicBezTo>
                <a:cubicBezTo>
                  <a:pt x="450" y="3"/>
                  <a:pt x="424" y="0"/>
                  <a:pt x="398" y="0"/>
                </a:cubicBezTo>
                <a:cubicBezTo>
                  <a:pt x="372" y="0"/>
                  <a:pt x="346" y="3"/>
                  <a:pt x="320" y="8"/>
                </a:cubicBezTo>
                <a:close/>
              </a:path>
            </a:pathLst>
          </a:custGeom>
          <a:solidFill>
            <a:srgbClr val="295A9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995400" y="2643120"/>
            <a:ext cx="4599360" cy="25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295A97"/>
                </a:solidFill>
                <a:effectLst/>
                <a:uFillTx/>
                <a:latin typeface="NotoSansMath"/>
                <a:ea typeface="NotoSansMath"/>
              </a:rPr>
              <a:t>▸ </a:t>
            </a:r>
            <a:r>
              <a:rPr lang="en-US" sz="13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Saubere Trennung von Zustand, Logik und Darstellung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8131320" y="1993680"/>
            <a:ext cx="1389960" cy="26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20" b="1" u="none" strike="noStrike">
                <a:solidFill>
                  <a:srgbClr val="295A97"/>
                </a:solidFill>
                <a:effectLst/>
                <a:uFillTx/>
                <a:latin typeface="NotoSans"/>
                <a:ea typeface="NotoSans"/>
              </a:rPr>
              <a:t>Erreichte Ziele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6410160" y="2319120"/>
            <a:ext cx="3673440" cy="25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295A97"/>
                </a:solidFill>
                <a:effectLst/>
                <a:uFillTx/>
                <a:latin typeface="NotoSansMath"/>
                <a:ea typeface="NotoSansMath"/>
              </a:rPr>
              <a:t>▸ </a:t>
            </a:r>
            <a:r>
              <a:rPr lang="en-US" sz="13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Voll funktionsfähiger Prototyp mit 3 Routen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6410160" y="2643120"/>
            <a:ext cx="2121840" cy="25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295A97"/>
                </a:solidFill>
                <a:effectLst/>
                <a:uFillTx/>
                <a:latin typeface="NotoSansMath"/>
                <a:ea typeface="NotoSansMath"/>
              </a:rPr>
              <a:t>▸ </a:t>
            </a:r>
            <a:r>
              <a:rPr lang="en-US" sz="13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63 Items in 7 Kategorien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6410160" y="2957400"/>
            <a:ext cx="2901960" cy="25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295A97"/>
                </a:solidFill>
                <a:effectLst/>
                <a:uFillTx/>
                <a:latin typeface="NotoSansMath"/>
                <a:ea typeface="NotoSansMath"/>
              </a:rPr>
              <a:t>▸ </a:t>
            </a:r>
            <a:r>
              <a:rPr lang="en-US" sz="13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Tag-Filter · Outﬁt-URLs zum Teilen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6410160" y="3271680"/>
            <a:ext cx="3391920" cy="25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295A97"/>
                </a:solidFill>
                <a:effectLst/>
                <a:uFillTx/>
                <a:latin typeface="NotoSansMath"/>
                <a:ea typeface="NotoSansMath"/>
              </a:rPr>
              <a:t>▸ </a:t>
            </a:r>
            <a:r>
              <a:rPr lang="en-US" sz="13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Kleiderschrank-Wechsel (Main/Summer)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771480" y="4133520"/>
            <a:ext cx="5258160" cy="2219760"/>
          </a:xfrm>
          <a:custGeom>
            <a:avLst/>
            <a:gdLst/>
            <a:ahLst/>
            <a:rect l="0" t="0" r="r" b="b"/>
            <a:pathLst>
              <a:path w="14606" h="6166">
                <a:moveTo>
                  <a:pt x="0" y="6007"/>
                </a:moveTo>
                <a:lnTo>
                  <a:pt x="0" y="159"/>
                </a:lnTo>
                <a:cubicBezTo>
                  <a:pt x="0" y="138"/>
                  <a:pt x="2" y="118"/>
                  <a:pt x="8" y="98"/>
                </a:cubicBezTo>
                <a:cubicBezTo>
                  <a:pt x="13" y="79"/>
                  <a:pt x="21" y="62"/>
                  <a:pt x="31" y="47"/>
                </a:cubicBezTo>
                <a:cubicBezTo>
                  <a:pt x="41" y="32"/>
                  <a:pt x="52" y="21"/>
                  <a:pt x="65" y="12"/>
                </a:cubicBezTo>
                <a:cubicBezTo>
                  <a:pt x="78" y="4"/>
                  <a:pt x="91" y="0"/>
                  <a:pt x="105" y="0"/>
                </a:cubicBezTo>
                <a:lnTo>
                  <a:pt x="14447" y="0"/>
                </a:lnTo>
                <a:cubicBezTo>
                  <a:pt x="14457" y="0"/>
                  <a:pt x="14468" y="1"/>
                  <a:pt x="14478" y="3"/>
                </a:cubicBezTo>
                <a:cubicBezTo>
                  <a:pt x="14488" y="5"/>
                  <a:pt x="14498" y="9"/>
                  <a:pt x="14508" y="12"/>
                </a:cubicBezTo>
                <a:cubicBezTo>
                  <a:pt x="14517" y="16"/>
                  <a:pt x="14526" y="21"/>
                  <a:pt x="14535" y="27"/>
                </a:cubicBezTo>
                <a:cubicBezTo>
                  <a:pt x="14544" y="33"/>
                  <a:pt x="14552" y="40"/>
                  <a:pt x="14559" y="47"/>
                </a:cubicBezTo>
                <a:cubicBezTo>
                  <a:pt x="14566" y="54"/>
                  <a:pt x="14573" y="62"/>
                  <a:pt x="14579" y="71"/>
                </a:cubicBezTo>
                <a:cubicBezTo>
                  <a:pt x="14585" y="80"/>
                  <a:pt x="14590" y="89"/>
                  <a:pt x="14594" y="98"/>
                </a:cubicBezTo>
                <a:cubicBezTo>
                  <a:pt x="14598" y="108"/>
                  <a:pt x="14601" y="118"/>
                  <a:pt x="14603" y="128"/>
                </a:cubicBezTo>
                <a:cubicBezTo>
                  <a:pt x="14605" y="138"/>
                  <a:pt x="14606" y="149"/>
                  <a:pt x="14606" y="159"/>
                </a:cubicBezTo>
                <a:lnTo>
                  <a:pt x="14606" y="6007"/>
                </a:lnTo>
                <a:cubicBezTo>
                  <a:pt x="14606" y="6018"/>
                  <a:pt x="14605" y="6028"/>
                  <a:pt x="14603" y="6038"/>
                </a:cubicBezTo>
                <a:cubicBezTo>
                  <a:pt x="14601" y="6049"/>
                  <a:pt x="14598" y="6059"/>
                  <a:pt x="14594" y="6068"/>
                </a:cubicBezTo>
                <a:cubicBezTo>
                  <a:pt x="14590" y="6078"/>
                  <a:pt x="14585" y="6087"/>
                  <a:pt x="14579" y="6096"/>
                </a:cubicBezTo>
                <a:cubicBezTo>
                  <a:pt x="14573" y="6104"/>
                  <a:pt x="14566" y="6112"/>
                  <a:pt x="14559" y="6120"/>
                </a:cubicBezTo>
                <a:cubicBezTo>
                  <a:pt x="14552" y="6127"/>
                  <a:pt x="14544" y="6134"/>
                  <a:pt x="14535" y="6139"/>
                </a:cubicBezTo>
                <a:cubicBezTo>
                  <a:pt x="14526" y="6145"/>
                  <a:pt x="14517" y="6150"/>
                  <a:pt x="14508" y="6154"/>
                </a:cubicBezTo>
                <a:cubicBezTo>
                  <a:pt x="14498" y="6158"/>
                  <a:pt x="14488" y="6161"/>
                  <a:pt x="14478" y="6163"/>
                </a:cubicBezTo>
                <a:cubicBezTo>
                  <a:pt x="14468" y="6165"/>
                  <a:pt x="14457" y="6166"/>
                  <a:pt x="14447" y="6166"/>
                </a:cubicBezTo>
                <a:lnTo>
                  <a:pt x="105" y="6166"/>
                </a:lnTo>
                <a:cubicBezTo>
                  <a:pt x="91" y="6166"/>
                  <a:pt x="78" y="6162"/>
                  <a:pt x="65" y="6154"/>
                </a:cubicBezTo>
                <a:cubicBezTo>
                  <a:pt x="52" y="6146"/>
                  <a:pt x="41" y="6135"/>
                  <a:pt x="31" y="6120"/>
                </a:cubicBezTo>
                <a:cubicBezTo>
                  <a:pt x="21" y="6105"/>
                  <a:pt x="13" y="6088"/>
                  <a:pt x="8" y="6068"/>
                </a:cubicBezTo>
                <a:cubicBezTo>
                  <a:pt x="2" y="6049"/>
                  <a:pt x="0" y="6029"/>
                  <a:pt x="0" y="6007"/>
                </a:cubicBezTo>
                <a:close/>
              </a:path>
            </a:pathLst>
          </a:custGeom>
          <a:solidFill>
            <a:srgbClr val="F5F5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752400" y="4133520"/>
            <a:ext cx="57240" cy="2219760"/>
          </a:xfrm>
          <a:custGeom>
            <a:avLst/>
            <a:gdLst/>
            <a:ahLst/>
            <a:rect l="0" t="0" r="r" b="b"/>
            <a:pathLst>
              <a:path w="159" h="6166">
                <a:moveTo>
                  <a:pt x="0" y="0"/>
                </a:moveTo>
                <a:lnTo>
                  <a:pt x="159" y="0"/>
                </a:lnTo>
                <a:lnTo>
                  <a:pt x="159" y="6166"/>
                </a:lnTo>
                <a:lnTo>
                  <a:pt x="0" y="6166"/>
                </a:lnTo>
                <a:lnTo>
                  <a:pt x="0" y="0"/>
                </a:lnTo>
                <a:close/>
              </a:path>
            </a:pathLst>
          </a:custGeom>
          <a:solidFill>
            <a:srgbClr val="295A9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3267720" y="4314960"/>
            <a:ext cx="285120" cy="285840"/>
          </a:xfrm>
          <a:custGeom>
            <a:avLst/>
            <a:gdLst/>
            <a:ahLst/>
            <a:rect l="0" t="0" r="r" b="b"/>
            <a:pathLst>
              <a:path w="792" h="794">
                <a:moveTo>
                  <a:pt x="435" y="80"/>
                </a:moveTo>
                <a:cubicBezTo>
                  <a:pt x="609" y="102"/>
                  <a:pt x="733" y="260"/>
                  <a:pt x="711" y="435"/>
                </a:cubicBezTo>
                <a:cubicBezTo>
                  <a:pt x="693" y="580"/>
                  <a:pt x="580" y="695"/>
                  <a:pt x="435" y="712"/>
                </a:cubicBezTo>
                <a:lnTo>
                  <a:pt x="435" y="791"/>
                </a:lnTo>
                <a:cubicBezTo>
                  <a:pt x="654" y="769"/>
                  <a:pt x="813" y="576"/>
                  <a:pt x="790" y="357"/>
                </a:cubicBezTo>
                <a:cubicBezTo>
                  <a:pt x="773" y="168"/>
                  <a:pt x="623" y="19"/>
                  <a:pt x="435" y="0"/>
                </a:cubicBezTo>
                <a:lnTo>
                  <a:pt x="435" y="80"/>
                </a:lnTo>
                <a:moveTo>
                  <a:pt x="356" y="2"/>
                </a:moveTo>
                <a:cubicBezTo>
                  <a:pt x="279" y="9"/>
                  <a:pt x="205" y="39"/>
                  <a:pt x="144" y="89"/>
                </a:cubicBezTo>
                <a:lnTo>
                  <a:pt x="201" y="148"/>
                </a:lnTo>
                <a:cubicBezTo>
                  <a:pt x="246" y="112"/>
                  <a:pt x="299" y="89"/>
                  <a:pt x="356" y="81"/>
                </a:cubicBezTo>
                <a:lnTo>
                  <a:pt x="356" y="2"/>
                </a:lnTo>
                <a:moveTo>
                  <a:pt x="88" y="145"/>
                </a:moveTo>
                <a:cubicBezTo>
                  <a:pt x="38" y="206"/>
                  <a:pt x="7" y="277"/>
                  <a:pt x="0" y="357"/>
                </a:cubicBezTo>
                <a:lnTo>
                  <a:pt x="80" y="357"/>
                </a:lnTo>
                <a:cubicBezTo>
                  <a:pt x="88" y="301"/>
                  <a:pt x="110" y="246"/>
                  <a:pt x="145" y="202"/>
                </a:cubicBezTo>
                <a:lnTo>
                  <a:pt x="88" y="145"/>
                </a:lnTo>
                <a:moveTo>
                  <a:pt x="534" y="257"/>
                </a:moveTo>
                <a:lnTo>
                  <a:pt x="341" y="452"/>
                </a:lnTo>
                <a:lnTo>
                  <a:pt x="257" y="368"/>
                </a:lnTo>
                <a:lnTo>
                  <a:pt x="215" y="410"/>
                </a:lnTo>
                <a:lnTo>
                  <a:pt x="341" y="536"/>
                </a:lnTo>
                <a:lnTo>
                  <a:pt x="577" y="300"/>
                </a:lnTo>
                <a:lnTo>
                  <a:pt x="534" y="257"/>
                </a:lnTo>
                <a:moveTo>
                  <a:pt x="0" y="437"/>
                </a:moveTo>
                <a:cubicBezTo>
                  <a:pt x="8" y="514"/>
                  <a:pt x="40" y="588"/>
                  <a:pt x="89" y="648"/>
                </a:cubicBezTo>
                <a:lnTo>
                  <a:pt x="145" y="591"/>
                </a:lnTo>
                <a:cubicBezTo>
                  <a:pt x="109" y="546"/>
                  <a:pt x="88" y="494"/>
                  <a:pt x="80" y="437"/>
                </a:cubicBezTo>
                <a:lnTo>
                  <a:pt x="0" y="437"/>
                </a:lnTo>
                <a:moveTo>
                  <a:pt x="201" y="650"/>
                </a:moveTo>
                <a:lnTo>
                  <a:pt x="144" y="704"/>
                </a:lnTo>
                <a:cubicBezTo>
                  <a:pt x="206" y="755"/>
                  <a:pt x="276" y="785"/>
                  <a:pt x="356" y="794"/>
                </a:cubicBezTo>
                <a:lnTo>
                  <a:pt x="356" y="714"/>
                </a:lnTo>
                <a:cubicBezTo>
                  <a:pt x="298" y="707"/>
                  <a:pt x="247" y="686"/>
                  <a:pt x="201" y="650"/>
                </a:cubicBezTo>
                <a:close/>
              </a:path>
            </a:pathLst>
          </a:custGeom>
          <a:solidFill>
            <a:srgbClr val="295A9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6410160" y="3585960"/>
            <a:ext cx="3072240" cy="25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295A97"/>
                </a:solidFill>
                <a:effectLst/>
                <a:uFillTx/>
                <a:latin typeface="NotoSansMath"/>
                <a:ea typeface="NotoSansMath"/>
              </a:rPr>
              <a:t>▸ </a:t>
            </a:r>
            <a:r>
              <a:rPr lang="en-US" sz="13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Multi-Select Accessoires · SVG-Radar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2788920" y="4670280"/>
            <a:ext cx="1240560" cy="26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20" b="1" u="none" strike="noStrike">
                <a:solidFill>
                  <a:srgbClr val="295A97"/>
                </a:solidFill>
                <a:effectLst/>
                <a:uFillTx/>
                <a:latin typeface="NotoSans"/>
                <a:ea typeface="NotoSans"/>
              </a:rPr>
              <a:t>Optimierung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995400" y="4995720"/>
            <a:ext cx="2112480" cy="25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295A97"/>
                </a:solidFill>
                <a:effectLst/>
                <a:uFillTx/>
                <a:latin typeface="NotoSansMath"/>
                <a:ea typeface="NotoSansMath"/>
              </a:rPr>
              <a:t>▸ </a:t>
            </a:r>
            <a:r>
              <a:rPr lang="en-US" sz="13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CSS-Styling aufwändiger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995400" y="5310000"/>
            <a:ext cx="3006720" cy="25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295A97"/>
                </a:solidFill>
                <a:effectLst/>
                <a:uFillTx/>
                <a:latin typeface="NotoSansMath"/>
                <a:ea typeface="NotoSansMath"/>
              </a:rPr>
              <a:t>▸ </a:t>
            </a:r>
            <a:r>
              <a:rPr lang="en-US" sz="13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Früher mit Datenstruktur beginnen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6181560" y="4133520"/>
            <a:ext cx="5267520" cy="2219760"/>
          </a:xfrm>
          <a:custGeom>
            <a:avLst/>
            <a:gdLst/>
            <a:ahLst/>
            <a:rect l="0" t="0" r="r" b="b"/>
            <a:pathLst>
              <a:path w="14632" h="6166">
                <a:moveTo>
                  <a:pt x="0" y="6007"/>
                </a:moveTo>
                <a:lnTo>
                  <a:pt x="0" y="159"/>
                </a:lnTo>
                <a:cubicBezTo>
                  <a:pt x="0" y="138"/>
                  <a:pt x="3" y="118"/>
                  <a:pt x="8" y="98"/>
                </a:cubicBezTo>
                <a:cubicBezTo>
                  <a:pt x="13" y="79"/>
                  <a:pt x="21" y="62"/>
                  <a:pt x="31" y="47"/>
                </a:cubicBezTo>
                <a:cubicBezTo>
                  <a:pt x="41" y="32"/>
                  <a:pt x="52" y="21"/>
                  <a:pt x="65" y="12"/>
                </a:cubicBezTo>
                <a:cubicBezTo>
                  <a:pt x="78" y="4"/>
                  <a:pt x="92" y="0"/>
                  <a:pt x="106" y="0"/>
                </a:cubicBezTo>
                <a:lnTo>
                  <a:pt x="14474" y="0"/>
                </a:lnTo>
                <a:cubicBezTo>
                  <a:pt x="14484" y="0"/>
                  <a:pt x="14494" y="1"/>
                  <a:pt x="14505" y="3"/>
                </a:cubicBezTo>
                <a:cubicBezTo>
                  <a:pt x="14515" y="5"/>
                  <a:pt x="14525" y="9"/>
                  <a:pt x="14534" y="12"/>
                </a:cubicBezTo>
                <a:cubicBezTo>
                  <a:pt x="14544" y="16"/>
                  <a:pt x="14553" y="21"/>
                  <a:pt x="14562" y="27"/>
                </a:cubicBezTo>
                <a:cubicBezTo>
                  <a:pt x="14571" y="33"/>
                  <a:pt x="14579" y="40"/>
                  <a:pt x="14586" y="47"/>
                </a:cubicBezTo>
                <a:cubicBezTo>
                  <a:pt x="14593" y="54"/>
                  <a:pt x="14600" y="62"/>
                  <a:pt x="14606" y="71"/>
                </a:cubicBezTo>
                <a:cubicBezTo>
                  <a:pt x="14611" y="80"/>
                  <a:pt x="14616" y="89"/>
                  <a:pt x="14620" y="98"/>
                </a:cubicBezTo>
                <a:cubicBezTo>
                  <a:pt x="14624" y="108"/>
                  <a:pt x="14627" y="118"/>
                  <a:pt x="14629" y="128"/>
                </a:cubicBezTo>
                <a:cubicBezTo>
                  <a:pt x="14631" y="138"/>
                  <a:pt x="14632" y="149"/>
                  <a:pt x="14632" y="159"/>
                </a:cubicBezTo>
                <a:lnTo>
                  <a:pt x="14632" y="6007"/>
                </a:lnTo>
                <a:cubicBezTo>
                  <a:pt x="14632" y="6018"/>
                  <a:pt x="14631" y="6028"/>
                  <a:pt x="14629" y="6038"/>
                </a:cubicBezTo>
                <a:cubicBezTo>
                  <a:pt x="14627" y="6049"/>
                  <a:pt x="14624" y="6059"/>
                  <a:pt x="14620" y="6068"/>
                </a:cubicBezTo>
                <a:cubicBezTo>
                  <a:pt x="14616" y="6078"/>
                  <a:pt x="14611" y="6087"/>
                  <a:pt x="14606" y="6096"/>
                </a:cubicBezTo>
                <a:cubicBezTo>
                  <a:pt x="14600" y="6104"/>
                  <a:pt x="14593" y="6112"/>
                  <a:pt x="14586" y="6120"/>
                </a:cubicBezTo>
                <a:cubicBezTo>
                  <a:pt x="14579" y="6127"/>
                  <a:pt x="14571" y="6134"/>
                  <a:pt x="14562" y="6139"/>
                </a:cubicBezTo>
                <a:cubicBezTo>
                  <a:pt x="14553" y="6145"/>
                  <a:pt x="14544" y="6150"/>
                  <a:pt x="14534" y="6154"/>
                </a:cubicBezTo>
                <a:cubicBezTo>
                  <a:pt x="14525" y="6158"/>
                  <a:pt x="14515" y="6161"/>
                  <a:pt x="14505" y="6163"/>
                </a:cubicBezTo>
                <a:cubicBezTo>
                  <a:pt x="14494" y="6165"/>
                  <a:pt x="14484" y="6166"/>
                  <a:pt x="14474" y="6166"/>
                </a:cubicBezTo>
                <a:lnTo>
                  <a:pt x="106" y="6166"/>
                </a:lnTo>
                <a:cubicBezTo>
                  <a:pt x="92" y="6166"/>
                  <a:pt x="78" y="6162"/>
                  <a:pt x="65" y="6154"/>
                </a:cubicBezTo>
                <a:cubicBezTo>
                  <a:pt x="52" y="6146"/>
                  <a:pt x="41" y="6135"/>
                  <a:pt x="31" y="6120"/>
                </a:cubicBezTo>
                <a:cubicBezTo>
                  <a:pt x="21" y="6105"/>
                  <a:pt x="13" y="6088"/>
                  <a:pt x="8" y="6068"/>
                </a:cubicBezTo>
                <a:cubicBezTo>
                  <a:pt x="3" y="6049"/>
                  <a:pt x="0" y="6029"/>
                  <a:pt x="0" y="6007"/>
                </a:cubicBezTo>
                <a:close/>
              </a:path>
            </a:pathLst>
          </a:custGeom>
          <a:solidFill>
            <a:srgbClr val="EFF5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6162480" y="4133520"/>
            <a:ext cx="57600" cy="2219760"/>
          </a:xfrm>
          <a:custGeom>
            <a:avLst/>
            <a:gdLst/>
            <a:ahLst/>
            <a:rect l="0" t="0" r="r" b="b"/>
            <a:pathLst>
              <a:path w="160" h="6166">
                <a:moveTo>
                  <a:pt x="0" y="0"/>
                </a:moveTo>
                <a:lnTo>
                  <a:pt x="160" y="0"/>
                </a:lnTo>
                <a:lnTo>
                  <a:pt x="160" y="6166"/>
                </a:lnTo>
                <a:lnTo>
                  <a:pt x="0" y="6166"/>
                </a:lnTo>
                <a:lnTo>
                  <a:pt x="0" y="0"/>
                </a:lnTo>
                <a:close/>
              </a:path>
            </a:pathLst>
          </a:custGeom>
          <a:solidFill>
            <a:srgbClr val="9FBF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8677080" y="4371840"/>
            <a:ext cx="286200" cy="171720"/>
          </a:xfrm>
          <a:custGeom>
            <a:avLst/>
            <a:gdLst/>
            <a:ahLst/>
            <a:rect l="0" t="0" r="r" b="b"/>
            <a:pathLst>
              <a:path w="795" h="477">
                <a:moveTo>
                  <a:pt x="557" y="0"/>
                </a:moveTo>
                <a:lnTo>
                  <a:pt x="648" y="91"/>
                </a:lnTo>
                <a:lnTo>
                  <a:pt x="454" y="284"/>
                </a:lnTo>
                <a:lnTo>
                  <a:pt x="295" y="126"/>
                </a:lnTo>
                <a:lnTo>
                  <a:pt x="0" y="420"/>
                </a:lnTo>
                <a:lnTo>
                  <a:pt x="56" y="477"/>
                </a:lnTo>
                <a:lnTo>
                  <a:pt x="295" y="238"/>
                </a:lnTo>
                <a:lnTo>
                  <a:pt x="454" y="397"/>
                </a:lnTo>
                <a:lnTo>
                  <a:pt x="704" y="147"/>
                </a:lnTo>
                <a:lnTo>
                  <a:pt x="795" y="238"/>
                </a:lnTo>
                <a:lnTo>
                  <a:pt x="795" y="0"/>
                </a:lnTo>
                <a:lnTo>
                  <a:pt x="557" y="0"/>
                </a:lnTo>
                <a:close/>
              </a:path>
            </a:pathLst>
          </a:custGeom>
          <a:solidFill>
            <a:srgbClr val="295A9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995400" y="5634000"/>
            <a:ext cx="4078080" cy="25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295A97"/>
                </a:solidFill>
                <a:effectLst/>
                <a:uFillTx/>
                <a:latin typeface="NotoSansMath"/>
                <a:ea typeface="NotoSansMath"/>
              </a:rPr>
              <a:t>▸ </a:t>
            </a:r>
            <a:r>
              <a:rPr lang="en-US" sz="13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Elm-Paketdokumentation gewöhnungsbedürftig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8416080" y="4670280"/>
            <a:ext cx="815400" cy="26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20" b="1" u="none" strike="noStrike">
                <a:solidFill>
                  <a:srgbClr val="295A97"/>
                </a:solidFill>
                <a:effectLst/>
                <a:uFillTx/>
                <a:latin typeface="NotoSans"/>
                <a:ea typeface="NotoSans"/>
              </a:rPr>
              <a:t>Ausblick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6410160" y="4995720"/>
            <a:ext cx="2243160" cy="25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295A97"/>
                </a:solidFill>
                <a:effectLst/>
                <a:uFillTx/>
                <a:latin typeface="NotoSansMath"/>
                <a:ea typeface="NotoSansMath"/>
              </a:rPr>
              <a:t>▸ </a:t>
            </a:r>
            <a:r>
              <a:rPr lang="en-US" sz="13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Wetter-API für Vorschläge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6410160" y="5310000"/>
            <a:ext cx="2410200" cy="25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295A97"/>
                </a:solidFill>
                <a:effectLst/>
                <a:uFillTx/>
                <a:latin typeface="NotoSansMath"/>
                <a:ea typeface="NotoSansMath"/>
              </a:rPr>
              <a:t>▸ </a:t>
            </a:r>
            <a:r>
              <a:rPr lang="en-US" sz="13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Outﬁts als JSON exportieren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6410160" y="5634000"/>
            <a:ext cx="3309120" cy="25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295A97"/>
                </a:solidFill>
                <a:effectLst/>
                <a:uFillTx/>
                <a:latin typeface="NotoSansMath"/>
                <a:ea typeface="NotoSansMath"/>
              </a:rPr>
              <a:t>▸ </a:t>
            </a:r>
            <a:r>
              <a:rPr lang="en-US" sz="13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Filter nach Anlass (Uni, Party, Business)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6410160" y="5948280"/>
            <a:ext cx="2402640" cy="25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70" b="0" u="none" strike="noStrike">
                <a:solidFill>
                  <a:srgbClr val="295A97"/>
                </a:solidFill>
                <a:effectLst/>
                <a:uFillTx/>
                <a:latin typeface="NotoSansMath"/>
                <a:ea typeface="NotoSansMath"/>
              </a:rPr>
              <a:t>▸ </a:t>
            </a:r>
            <a:r>
              <a:rPr lang="en-US" sz="1370" b="0" u="none" strike="noStrike">
                <a:solidFill>
                  <a:srgbClr val="1F2328"/>
                </a:solidFill>
                <a:effectLst/>
                <a:uFillTx/>
                <a:latin typeface="NotoSans"/>
                <a:ea typeface="NotoSans"/>
              </a:rPr>
              <a:t>Outﬁt-Bewertung speichern</a:t>
            </a:r>
            <a:endParaRPr lang="en-U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285840" y="197640"/>
            <a:ext cx="2560320" cy="17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NotoSans"/>
                <a:ea typeface="NotoSans"/>
              </a:rPr>
              <a:t>Martin-Luther-Universität Halle-Wittenberg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285840" y="6465240"/>
            <a:ext cx="2998440" cy="17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NotoSans"/>
                <a:ea typeface="NotoSans"/>
              </a:rPr>
              <a:t>Grundlagen des WWW | SS-26 | Al-Shoumi &amp; Rana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NotoSans"/>
                <a:ea typeface="NotoSans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